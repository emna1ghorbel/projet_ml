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arlow Bold" charset="1" panose="00000800000000000000"/>
      <p:regular r:id="rId24"/>
    </p:embeddedFont>
    <p:embeddedFont>
      <p:font typeface="Montserrat" charset="1" panose="00000500000000000000"/>
      <p:regular r:id="rId25"/>
    </p:embeddedFont>
    <p:embeddedFont>
      <p:font typeface="Montserrat Bold" charset="1" panose="00000800000000000000"/>
      <p:regular r:id="rId27"/>
    </p:embeddedFont>
    <p:embeddedFont>
      <p:font typeface="Montserrat Italics" charset="1" panose="00000500000000000000"/>
      <p:regular r:id="rId28"/>
    </p:embeddedFont>
    <p:embeddedFont>
      <p:font typeface="Montserrat Bold Italics" charset="1" panose="00000800000000000000"/>
      <p:regular r:id="rId29"/>
    </p:embeddedFont>
    <p:embeddedFont>
      <p:font typeface="Consolas" charset="1" panose="020B0609020204030204"/>
      <p:regular r:id="rId32"/>
    </p:embeddedFont>
    <p:embeddedFont>
      <p:font typeface="Barlow Light" charset="1" panose="00000400000000000000"/>
      <p:regular r:id="rId38"/>
    </p:embeddedFont>
    <p:embeddedFont>
      <p:font typeface="Arimo" charset="1" panose="020B060402020202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Voici l'architecture complète du projet. Il s'agit d'un pipeline ML de prédiction de churn clients (risque de désabonnement) articulé en 4 phases :</a:t>
            </a:r>
          </a:p>
          <a:p>
            <a:r>
              <a:rPr lang="en-US"/>
              <a:t>Phase 1 — Données brutes : un fichier CSV de clients retail avec des données comportementales et démographiques.</a:t>
            </a:r>
          </a:p>
          <a:p>
            <a:r>
              <a:rPr lang="en-US"/>
              <a:t>Phase 2 — Preprocessing (preprocessing.py + utils.py) : nettoyage des valeurs manquantes/aberrantes, extraction de features depuis les dates et adresses IP, encodage des variables catégorielles, puis split 80/20 stratifié.</a:t>
            </a:r>
          </a:p>
          <a:p>
            <a:r>
              <a:rPr lang="en-US"/>
              <a:t>Phase 3 — Entraînement (train_model.py) : pipeline en 3 étapes — normalisation via StandardScaler, réduction dimensionnelle via PCA (95% de variance conservée), puis classification avec un RandomForestClassifier à 100 arbres. Les 3 objets (scaler.pkl, pca.pkl, model.pkl) sont sauvegardés.</a:t>
            </a:r>
          </a:p>
          <a:p>
            <a:r>
              <a:rPr lang="en-US"/>
              <a:t>Phase 4 — Déploiement : deux modes d'inférence en parallèle — une app Flask pour saisir un client à la main et obtenir une prédiction en temps réel, et un script batch (predict.py) pour scorer un fichier CSV entier en ligne de commande.</a:t>
            </a:r>
          </a:p>
          <a:p>
            <a:r>
              <a:rPr lang="en-US"/>
              <a:t>Chaque bloc du diagramme est cliquable pour approfondir un aspect spécifique.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7.pn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18.jpe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1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7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http://predict.py" TargetMode="External" Type="http://schemas.openxmlformats.org/officeDocument/2006/relationships/hyperlink"/><Relationship Id="rId5" Target="http://app.py" TargetMode="External" Type="http://schemas.openxmlformats.org/officeDocument/2006/relationships/hyperlink"/><Relationship Id="rId6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5890" y="2976858"/>
            <a:ext cx="9534230" cy="181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Analyse Comportementale Clientèle Retail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5890" y="5155254"/>
            <a:ext cx="9534230" cy="127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Prédiction du Churn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05890" y="6762302"/>
            <a:ext cx="953423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Atelier Machine Learning GI2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5890" y="1264739"/>
            <a:ext cx="7126929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Problématique Métier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86840" y="2580827"/>
            <a:ext cx="9572330" cy="2130181"/>
            <a:chOff x="0" y="0"/>
            <a:chExt cx="12763106" cy="28402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12712319" cy="2789428"/>
            </a:xfrm>
            <a:custGeom>
              <a:avLst/>
              <a:gdLst/>
              <a:ahLst/>
              <a:cxnLst/>
              <a:rect r="r" b="b" t="t" l="l"/>
              <a:pathLst>
                <a:path h="2789428" w="12712319">
                  <a:moveTo>
                    <a:pt x="0" y="243840"/>
                  </a:moveTo>
                  <a:cubicBezTo>
                    <a:pt x="0" y="109220"/>
                    <a:pt x="110744" y="0"/>
                    <a:pt x="247269" y="0"/>
                  </a:cubicBezTo>
                  <a:lnTo>
                    <a:pt x="12465050" y="0"/>
                  </a:lnTo>
                  <a:cubicBezTo>
                    <a:pt x="12601575" y="0"/>
                    <a:pt x="12712319" y="109220"/>
                    <a:pt x="12712319" y="243840"/>
                  </a:cubicBezTo>
                  <a:lnTo>
                    <a:pt x="12712319" y="2545588"/>
                  </a:lnTo>
                  <a:cubicBezTo>
                    <a:pt x="12712319" y="2680208"/>
                    <a:pt x="12601575" y="2789428"/>
                    <a:pt x="12465050" y="2789428"/>
                  </a:cubicBezTo>
                  <a:lnTo>
                    <a:pt x="247269" y="2789428"/>
                  </a:lnTo>
                  <a:cubicBezTo>
                    <a:pt x="110744" y="2789428"/>
                    <a:pt x="0" y="2680208"/>
                    <a:pt x="0" y="25455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63119" cy="2840228"/>
            </a:xfrm>
            <a:custGeom>
              <a:avLst/>
              <a:gdLst/>
              <a:ahLst/>
              <a:cxnLst/>
              <a:rect r="r" b="b" t="t" l="l"/>
              <a:pathLst>
                <a:path h="2840228" w="12763119">
                  <a:moveTo>
                    <a:pt x="0" y="269240"/>
                  </a:moveTo>
                  <a:cubicBezTo>
                    <a:pt x="0" y="120269"/>
                    <a:pt x="122428" y="0"/>
                    <a:pt x="272669" y="0"/>
                  </a:cubicBezTo>
                  <a:lnTo>
                    <a:pt x="12490450" y="0"/>
                  </a:lnTo>
                  <a:lnTo>
                    <a:pt x="12490450" y="25400"/>
                  </a:lnTo>
                  <a:lnTo>
                    <a:pt x="12490450" y="0"/>
                  </a:lnTo>
                  <a:cubicBezTo>
                    <a:pt x="12640691" y="0"/>
                    <a:pt x="12763119" y="120269"/>
                    <a:pt x="12763119" y="269240"/>
                  </a:cubicBezTo>
                  <a:lnTo>
                    <a:pt x="12737719" y="269240"/>
                  </a:lnTo>
                  <a:lnTo>
                    <a:pt x="12763119" y="269240"/>
                  </a:lnTo>
                  <a:lnTo>
                    <a:pt x="12763119" y="2570988"/>
                  </a:lnTo>
                  <a:lnTo>
                    <a:pt x="12737719" y="2570988"/>
                  </a:lnTo>
                  <a:lnTo>
                    <a:pt x="12763119" y="2570988"/>
                  </a:lnTo>
                  <a:cubicBezTo>
                    <a:pt x="12763119" y="2720086"/>
                    <a:pt x="12640691" y="2840228"/>
                    <a:pt x="12490450" y="2840228"/>
                  </a:cubicBezTo>
                  <a:lnTo>
                    <a:pt x="12490450" y="2814828"/>
                  </a:lnTo>
                  <a:lnTo>
                    <a:pt x="12490450" y="2840228"/>
                  </a:lnTo>
                  <a:lnTo>
                    <a:pt x="272669" y="2840228"/>
                  </a:lnTo>
                  <a:lnTo>
                    <a:pt x="272669" y="2814828"/>
                  </a:lnTo>
                  <a:lnTo>
                    <a:pt x="272669" y="2840228"/>
                  </a:lnTo>
                  <a:cubicBezTo>
                    <a:pt x="122428" y="2840228"/>
                    <a:pt x="0" y="2720086"/>
                    <a:pt x="0" y="25709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70988"/>
                  </a:lnTo>
                  <a:lnTo>
                    <a:pt x="25400" y="2570988"/>
                  </a:lnTo>
                  <a:lnTo>
                    <a:pt x="50800" y="2570988"/>
                  </a:lnTo>
                  <a:cubicBezTo>
                    <a:pt x="50800" y="2691257"/>
                    <a:pt x="149860" y="2789428"/>
                    <a:pt x="272669" y="2789428"/>
                  </a:cubicBezTo>
                  <a:lnTo>
                    <a:pt x="12490450" y="2789428"/>
                  </a:lnTo>
                  <a:cubicBezTo>
                    <a:pt x="12613386" y="2789428"/>
                    <a:pt x="12712319" y="2691257"/>
                    <a:pt x="12712319" y="2570988"/>
                  </a:cubicBezTo>
                  <a:lnTo>
                    <a:pt x="12712319" y="269240"/>
                  </a:lnTo>
                  <a:cubicBezTo>
                    <a:pt x="12712319" y="148971"/>
                    <a:pt x="12613259" y="50800"/>
                    <a:pt x="12490450" y="50800"/>
                  </a:cubicBezTo>
                  <a:lnTo>
                    <a:pt x="272669" y="50800"/>
                  </a:lnTo>
                  <a:lnTo>
                    <a:pt x="272669" y="25400"/>
                  </a:lnTo>
                  <a:lnTo>
                    <a:pt x="272669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67790" y="2599877"/>
            <a:ext cx="152400" cy="2092081"/>
            <a:chOff x="0" y="0"/>
            <a:chExt cx="203200" cy="278944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03200" cy="2789428"/>
            </a:xfrm>
            <a:custGeom>
              <a:avLst/>
              <a:gdLst/>
              <a:ahLst/>
              <a:cxnLst/>
              <a:rect r="r" b="b" t="t" l="l"/>
              <a:pathLst>
                <a:path h="278942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789428"/>
                  </a:lnTo>
                  <a:lnTo>
                    <a:pt x="0" y="2789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" r="0" b="-8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229009" y="2880122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C'est quoi le Churn 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9009" y="3440163"/>
            <a:ext cx="8802291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en-US" sz="212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</a:t>
            </a: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désigne un client qui cesse d'acheter. C'est un phénomène silencieux et coûteux pour toute entreprise retail.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786840" y="4943627"/>
            <a:ext cx="9572330" cy="2130181"/>
            <a:chOff x="0" y="0"/>
            <a:chExt cx="12763106" cy="28402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12712319" cy="2789428"/>
            </a:xfrm>
            <a:custGeom>
              <a:avLst/>
              <a:gdLst/>
              <a:ahLst/>
              <a:cxnLst/>
              <a:rect r="r" b="b" t="t" l="l"/>
              <a:pathLst>
                <a:path h="2789428" w="12712319">
                  <a:moveTo>
                    <a:pt x="0" y="243840"/>
                  </a:moveTo>
                  <a:cubicBezTo>
                    <a:pt x="0" y="109220"/>
                    <a:pt x="110744" y="0"/>
                    <a:pt x="247269" y="0"/>
                  </a:cubicBezTo>
                  <a:lnTo>
                    <a:pt x="12465050" y="0"/>
                  </a:lnTo>
                  <a:cubicBezTo>
                    <a:pt x="12601575" y="0"/>
                    <a:pt x="12712319" y="109220"/>
                    <a:pt x="12712319" y="243840"/>
                  </a:cubicBezTo>
                  <a:lnTo>
                    <a:pt x="12712319" y="2545588"/>
                  </a:lnTo>
                  <a:cubicBezTo>
                    <a:pt x="12712319" y="2680208"/>
                    <a:pt x="12601575" y="2789428"/>
                    <a:pt x="12465050" y="2789428"/>
                  </a:cubicBezTo>
                  <a:lnTo>
                    <a:pt x="247269" y="2789428"/>
                  </a:lnTo>
                  <a:cubicBezTo>
                    <a:pt x="110744" y="2789428"/>
                    <a:pt x="0" y="2680208"/>
                    <a:pt x="0" y="25455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63119" cy="2840228"/>
            </a:xfrm>
            <a:custGeom>
              <a:avLst/>
              <a:gdLst/>
              <a:ahLst/>
              <a:cxnLst/>
              <a:rect r="r" b="b" t="t" l="l"/>
              <a:pathLst>
                <a:path h="2840228" w="12763119">
                  <a:moveTo>
                    <a:pt x="0" y="269240"/>
                  </a:moveTo>
                  <a:cubicBezTo>
                    <a:pt x="0" y="120269"/>
                    <a:pt x="122428" y="0"/>
                    <a:pt x="272669" y="0"/>
                  </a:cubicBezTo>
                  <a:lnTo>
                    <a:pt x="12490450" y="0"/>
                  </a:lnTo>
                  <a:lnTo>
                    <a:pt x="12490450" y="25400"/>
                  </a:lnTo>
                  <a:lnTo>
                    <a:pt x="12490450" y="0"/>
                  </a:lnTo>
                  <a:cubicBezTo>
                    <a:pt x="12640691" y="0"/>
                    <a:pt x="12763119" y="120269"/>
                    <a:pt x="12763119" y="269240"/>
                  </a:cubicBezTo>
                  <a:lnTo>
                    <a:pt x="12737719" y="269240"/>
                  </a:lnTo>
                  <a:lnTo>
                    <a:pt x="12763119" y="269240"/>
                  </a:lnTo>
                  <a:lnTo>
                    <a:pt x="12763119" y="2570988"/>
                  </a:lnTo>
                  <a:lnTo>
                    <a:pt x="12737719" y="2570988"/>
                  </a:lnTo>
                  <a:lnTo>
                    <a:pt x="12763119" y="2570988"/>
                  </a:lnTo>
                  <a:cubicBezTo>
                    <a:pt x="12763119" y="2720086"/>
                    <a:pt x="12640691" y="2840228"/>
                    <a:pt x="12490450" y="2840228"/>
                  </a:cubicBezTo>
                  <a:lnTo>
                    <a:pt x="12490450" y="2814828"/>
                  </a:lnTo>
                  <a:lnTo>
                    <a:pt x="12490450" y="2840228"/>
                  </a:lnTo>
                  <a:lnTo>
                    <a:pt x="272669" y="2840228"/>
                  </a:lnTo>
                  <a:lnTo>
                    <a:pt x="272669" y="2814828"/>
                  </a:lnTo>
                  <a:lnTo>
                    <a:pt x="272669" y="2840228"/>
                  </a:lnTo>
                  <a:cubicBezTo>
                    <a:pt x="122428" y="2840228"/>
                    <a:pt x="0" y="2720086"/>
                    <a:pt x="0" y="25709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70988"/>
                  </a:lnTo>
                  <a:lnTo>
                    <a:pt x="25400" y="2570988"/>
                  </a:lnTo>
                  <a:lnTo>
                    <a:pt x="50800" y="2570988"/>
                  </a:lnTo>
                  <a:cubicBezTo>
                    <a:pt x="50800" y="2691257"/>
                    <a:pt x="149860" y="2789428"/>
                    <a:pt x="272669" y="2789428"/>
                  </a:cubicBezTo>
                  <a:lnTo>
                    <a:pt x="12490450" y="2789428"/>
                  </a:lnTo>
                  <a:cubicBezTo>
                    <a:pt x="12613386" y="2789428"/>
                    <a:pt x="12712319" y="2691257"/>
                    <a:pt x="12712319" y="2570988"/>
                  </a:cubicBezTo>
                  <a:lnTo>
                    <a:pt x="12712319" y="269240"/>
                  </a:lnTo>
                  <a:cubicBezTo>
                    <a:pt x="12712319" y="148971"/>
                    <a:pt x="12613259" y="50800"/>
                    <a:pt x="12490450" y="50800"/>
                  </a:cubicBezTo>
                  <a:lnTo>
                    <a:pt x="272669" y="50800"/>
                  </a:lnTo>
                  <a:lnTo>
                    <a:pt x="272669" y="25400"/>
                  </a:lnTo>
                  <a:lnTo>
                    <a:pt x="272669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767790" y="4962677"/>
            <a:ext cx="152400" cy="2092081"/>
            <a:chOff x="0" y="0"/>
            <a:chExt cx="203200" cy="278944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03200" cy="2789428"/>
            </a:xfrm>
            <a:custGeom>
              <a:avLst/>
              <a:gdLst/>
              <a:ahLst/>
              <a:cxnLst/>
              <a:rect r="r" b="b" t="t" l="l"/>
              <a:pathLst>
                <a:path h="278942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789428"/>
                  </a:lnTo>
                  <a:lnTo>
                    <a:pt x="0" y="2789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" r="0" b="-8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229009" y="5242922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Impact Financier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9009" y="5802954"/>
            <a:ext cx="8802291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Acquérir un nouveau client coûte </a:t>
            </a:r>
            <a:r>
              <a:rPr lang="en-US" sz="212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5× plus cher</a:t>
            </a: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que de fidéliser un client existant. La prévention est économiquement cruciale.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86840" y="7306418"/>
            <a:ext cx="9572330" cy="1696793"/>
            <a:chOff x="0" y="0"/>
            <a:chExt cx="12763106" cy="2262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25400"/>
              <a:ext cx="12712319" cy="2211578"/>
            </a:xfrm>
            <a:custGeom>
              <a:avLst/>
              <a:gdLst/>
              <a:ahLst/>
              <a:cxnLst/>
              <a:rect r="r" b="b" t="t" l="l"/>
              <a:pathLst>
                <a:path h="2211578" w="12712319">
                  <a:moveTo>
                    <a:pt x="0" y="243840"/>
                  </a:moveTo>
                  <a:cubicBezTo>
                    <a:pt x="0" y="109220"/>
                    <a:pt x="111252" y="0"/>
                    <a:pt x="248412" y="0"/>
                  </a:cubicBezTo>
                  <a:lnTo>
                    <a:pt x="12463907" y="0"/>
                  </a:lnTo>
                  <a:cubicBezTo>
                    <a:pt x="12601067" y="0"/>
                    <a:pt x="12712319" y="109220"/>
                    <a:pt x="12712319" y="243840"/>
                  </a:cubicBezTo>
                  <a:lnTo>
                    <a:pt x="12712319" y="1967738"/>
                  </a:lnTo>
                  <a:cubicBezTo>
                    <a:pt x="12712319" y="2102358"/>
                    <a:pt x="12601067" y="2211578"/>
                    <a:pt x="12463907" y="2211578"/>
                  </a:cubicBezTo>
                  <a:lnTo>
                    <a:pt x="248412" y="2211578"/>
                  </a:lnTo>
                  <a:cubicBezTo>
                    <a:pt x="111252" y="2211578"/>
                    <a:pt x="0" y="2102358"/>
                    <a:pt x="0" y="19677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63119" cy="2262378"/>
            </a:xfrm>
            <a:custGeom>
              <a:avLst/>
              <a:gdLst/>
              <a:ahLst/>
              <a:cxnLst/>
              <a:rect r="r" b="b" t="t" l="l"/>
              <a:pathLst>
                <a:path h="2262378" w="12763119">
                  <a:moveTo>
                    <a:pt x="0" y="269240"/>
                  </a:moveTo>
                  <a:cubicBezTo>
                    <a:pt x="0" y="120142"/>
                    <a:pt x="123063" y="0"/>
                    <a:pt x="273812" y="0"/>
                  </a:cubicBezTo>
                  <a:lnTo>
                    <a:pt x="12489307" y="0"/>
                  </a:lnTo>
                  <a:lnTo>
                    <a:pt x="12489307" y="25400"/>
                  </a:lnTo>
                  <a:lnTo>
                    <a:pt x="12489307" y="0"/>
                  </a:lnTo>
                  <a:cubicBezTo>
                    <a:pt x="12640056" y="0"/>
                    <a:pt x="12763119" y="120142"/>
                    <a:pt x="12763119" y="269240"/>
                  </a:cubicBezTo>
                  <a:lnTo>
                    <a:pt x="12737719" y="269240"/>
                  </a:lnTo>
                  <a:lnTo>
                    <a:pt x="12763119" y="269240"/>
                  </a:lnTo>
                  <a:lnTo>
                    <a:pt x="12763119" y="1993138"/>
                  </a:lnTo>
                  <a:lnTo>
                    <a:pt x="12737719" y="1993138"/>
                  </a:lnTo>
                  <a:lnTo>
                    <a:pt x="12763119" y="1993138"/>
                  </a:lnTo>
                  <a:cubicBezTo>
                    <a:pt x="12763119" y="2142236"/>
                    <a:pt x="12640056" y="2262378"/>
                    <a:pt x="12489307" y="2262378"/>
                  </a:cubicBezTo>
                  <a:lnTo>
                    <a:pt x="12489307" y="2236978"/>
                  </a:lnTo>
                  <a:lnTo>
                    <a:pt x="12489307" y="2262378"/>
                  </a:lnTo>
                  <a:lnTo>
                    <a:pt x="273812" y="2262378"/>
                  </a:lnTo>
                  <a:lnTo>
                    <a:pt x="273812" y="2236978"/>
                  </a:lnTo>
                  <a:lnTo>
                    <a:pt x="273812" y="2262378"/>
                  </a:lnTo>
                  <a:cubicBezTo>
                    <a:pt x="123063" y="2262378"/>
                    <a:pt x="0" y="2142236"/>
                    <a:pt x="0" y="19931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993138"/>
                  </a:lnTo>
                  <a:lnTo>
                    <a:pt x="25400" y="1993138"/>
                  </a:lnTo>
                  <a:lnTo>
                    <a:pt x="50800" y="1993138"/>
                  </a:lnTo>
                  <a:cubicBezTo>
                    <a:pt x="50800" y="2113280"/>
                    <a:pt x="150241" y="2211578"/>
                    <a:pt x="273812" y="2211578"/>
                  </a:cubicBezTo>
                  <a:lnTo>
                    <a:pt x="12489307" y="2211578"/>
                  </a:lnTo>
                  <a:cubicBezTo>
                    <a:pt x="12613005" y="2211578"/>
                    <a:pt x="12712319" y="2113280"/>
                    <a:pt x="12712319" y="1993138"/>
                  </a:cubicBezTo>
                  <a:lnTo>
                    <a:pt x="12712319" y="269240"/>
                  </a:lnTo>
                  <a:cubicBezTo>
                    <a:pt x="12712319" y="149098"/>
                    <a:pt x="12612877" y="50800"/>
                    <a:pt x="12489307" y="50800"/>
                  </a:cubicBezTo>
                  <a:lnTo>
                    <a:pt x="273812" y="50800"/>
                  </a:lnTo>
                  <a:lnTo>
                    <a:pt x="273812" y="25400"/>
                  </a:lnTo>
                  <a:lnTo>
                    <a:pt x="273812" y="50800"/>
                  </a:lnTo>
                  <a:cubicBezTo>
                    <a:pt x="150241" y="50800"/>
                    <a:pt x="50800" y="149098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767790" y="7325468"/>
            <a:ext cx="152400" cy="1658693"/>
            <a:chOff x="0" y="0"/>
            <a:chExt cx="203200" cy="2211591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203200" cy="2211578"/>
            </a:xfrm>
            <a:custGeom>
              <a:avLst/>
              <a:gdLst/>
              <a:ahLst/>
              <a:cxnLst/>
              <a:rect r="r" b="b" t="t" l="l"/>
              <a:pathLst>
                <a:path h="221157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11578"/>
                  </a:lnTo>
                  <a:lnTo>
                    <a:pt x="0" y="2211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7" t="0" r="-4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229009" y="7605713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Question Centrale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9009" y="8165754"/>
            <a:ext cx="8802291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i="true">
                <a:solidFill>
                  <a:srgbClr val="384653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"Comment prédire qu'un client va partir </a:t>
            </a:r>
            <a:r>
              <a:rPr lang="en-US" b="true" sz="2125" i="true">
                <a:solidFill>
                  <a:srgbClr val="384653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AVANT</a:t>
            </a:r>
            <a:r>
              <a:rPr lang="en-US" sz="2125" i="true">
                <a:solidFill>
                  <a:srgbClr val="384653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qu'il parte ?"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065005" y="398780"/>
            <a:ext cx="9194295" cy="9489441"/>
          </a:xfrm>
          <a:custGeom>
            <a:avLst/>
            <a:gdLst/>
            <a:ahLst/>
            <a:cxnLst/>
            <a:rect r="r" b="b" t="t" l="l"/>
            <a:pathLst>
              <a:path h="9489441" w="9194295">
                <a:moveTo>
                  <a:pt x="0" y="0"/>
                </a:moveTo>
                <a:lnTo>
                  <a:pt x="9194295" y="0"/>
                </a:lnTo>
                <a:lnTo>
                  <a:pt x="9194295" y="9489440"/>
                </a:lnTo>
                <a:lnTo>
                  <a:pt x="0" y="9489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27" r="0" b="-9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00125"/>
            <a:ext cx="6554095" cy="64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Architecture Globale du Projet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6888" y="4503716"/>
            <a:ext cx="7763868" cy="51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54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Ce pipeline linéaire assure une transformation progressive et reproductible des données à chaque étape du processus d'apprentissage automatique.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5259" y="5286770"/>
            <a:ext cx="3412897" cy="3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9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Les 4 dossiers principaux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4154" y="5839621"/>
            <a:ext cx="1844439" cy="757911"/>
            <a:chOff x="0" y="0"/>
            <a:chExt cx="2294312" cy="9427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401" y="6350"/>
              <a:ext cx="2287462" cy="930021"/>
            </a:xfrm>
            <a:custGeom>
              <a:avLst/>
              <a:gdLst/>
              <a:ahLst/>
              <a:cxnLst/>
              <a:rect r="r" b="b" t="t" l="l"/>
              <a:pathLst>
                <a:path h="930021" w="2287462">
                  <a:moveTo>
                    <a:pt x="0" y="372364"/>
                  </a:moveTo>
                  <a:cubicBezTo>
                    <a:pt x="0" y="166751"/>
                    <a:pt x="90263" y="0"/>
                    <a:pt x="201545" y="0"/>
                  </a:cubicBezTo>
                  <a:lnTo>
                    <a:pt x="2085918" y="0"/>
                  </a:lnTo>
                  <a:cubicBezTo>
                    <a:pt x="2197267" y="0"/>
                    <a:pt x="2287462" y="166751"/>
                    <a:pt x="2287462" y="372364"/>
                  </a:cubicBezTo>
                  <a:lnTo>
                    <a:pt x="2287462" y="557657"/>
                  </a:lnTo>
                  <a:cubicBezTo>
                    <a:pt x="2287462" y="763270"/>
                    <a:pt x="2197199" y="930021"/>
                    <a:pt x="2085918" y="930021"/>
                  </a:cubicBezTo>
                  <a:lnTo>
                    <a:pt x="201545" y="930021"/>
                  </a:lnTo>
                  <a:cubicBezTo>
                    <a:pt x="90263" y="930021"/>
                    <a:pt x="0" y="763397"/>
                    <a:pt x="0" y="55765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4350" cy="942721"/>
            </a:xfrm>
            <a:custGeom>
              <a:avLst/>
              <a:gdLst/>
              <a:ahLst/>
              <a:cxnLst/>
              <a:rect r="r" b="b" t="t" l="l"/>
              <a:pathLst>
                <a:path h="942721" w="2294350">
                  <a:moveTo>
                    <a:pt x="0" y="378714"/>
                  </a:moveTo>
                  <a:cubicBezTo>
                    <a:pt x="0" y="169545"/>
                    <a:pt x="91828" y="0"/>
                    <a:pt x="204946" y="0"/>
                  </a:cubicBezTo>
                  <a:lnTo>
                    <a:pt x="2089319" y="0"/>
                  </a:lnTo>
                  <a:lnTo>
                    <a:pt x="2089319" y="6350"/>
                  </a:lnTo>
                  <a:lnTo>
                    <a:pt x="2089319" y="0"/>
                  </a:lnTo>
                  <a:cubicBezTo>
                    <a:pt x="2202505" y="0"/>
                    <a:pt x="2294350" y="169545"/>
                    <a:pt x="2294350" y="378714"/>
                  </a:cubicBezTo>
                  <a:lnTo>
                    <a:pt x="2290931" y="378714"/>
                  </a:lnTo>
                  <a:lnTo>
                    <a:pt x="2294350" y="378714"/>
                  </a:lnTo>
                  <a:lnTo>
                    <a:pt x="2294350" y="564007"/>
                  </a:lnTo>
                  <a:lnTo>
                    <a:pt x="2290931" y="564007"/>
                  </a:lnTo>
                  <a:lnTo>
                    <a:pt x="2294350" y="564007"/>
                  </a:lnTo>
                  <a:cubicBezTo>
                    <a:pt x="2294350" y="773176"/>
                    <a:pt x="2202505" y="942721"/>
                    <a:pt x="2089386" y="942721"/>
                  </a:cubicBezTo>
                  <a:lnTo>
                    <a:pt x="2089386" y="936371"/>
                  </a:lnTo>
                  <a:lnTo>
                    <a:pt x="2089386" y="942721"/>
                  </a:lnTo>
                  <a:lnTo>
                    <a:pt x="204946" y="942721"/>
                  </a:lnTo>
                  <a:lnTo>
                    <a:pt x="204946" y="936371"/>
                  </a:lnTo>
                  <a:lnTo>
                    <a:pt x="204946" y="942721"/>
                  </a:lnTo>
                  <a:cubicBezTo>
                    <a:pt x="91828" y="942721"/>
                    <a:pt x="0" y="773303"/>
                    <a:pt x="0" y="564007"/>
                  </a:cubicBezTo>
                  <a:lnTo>
                    <a:pt x="0" y="378714"/>
                  </a:lnTo>
                  <a:lnTo>
                    <a:pt x="3401" y="378714"/>
                  </a:lnTo>
                  <a:lnTo>
                    <a:pt x="0" y="378714"/>
                  </a:lnTo>
                  <a:moveTo>
                    <a:pt x="6802" y="378714"/>
                  </a:moveTo>
                  <a:lnTo>
                    <a:pt x="6802" y="564007"/>
                  </a:lnTo>
                  <a:lnTo>
                    <a:pt x="3401" y="564007"/>
                  </a:lnTo>
                  <a:lnTo>
                    <a:pt x="6802" y="564007"/>
                  </a:lnTo>
                  <a:cubicBezTo>
                    <a:pt x="6802" y="766191"/>
                    <a:pt x="95501" y="930021"/>
                    <a:pt x="204946" y="930021"/>
                  </a:cubicBezTo>
                  <a:lnTo>
                    <a:pt x="2089319" y="930021"/>
                  </a:lnTo>
                  <a:cubicBezTo>
                    <a:pt x="2198832" y="930021"/>
                    <a:pt x="2287463" y="766064"/>
                    <a:pt x="2287463" y="564007"/>
                  </a:cubicBezTo>
                  <a:lnTo>
                    <a:pt x="2287463" y="378714"/>
                  </a:lnTo>
                  <a:cubicBezTo>
                    <a:pt x="2287530" y="176657"/>
                    <a:pt x="2198832" y="12700"/>
                    <a:pt x="2089319" y="12700"/>
                  </a:cubicBezTo>
                  <a:lnTo>
                    <a:pt x="204946" y="12700"/>
                  </a:lnTo>
                  <a:lnTo>
                    <a:pt x="204946" y="6350"/>
                  </a:lnTo>
                  <a:lnTo>
                    <a:pt x="204946" y="12700"/>
                  </a:lnTo>
                  <a:cubicBezTo>
                    <a:pt x="95501" y="12700"/>
                    <a:pt x="6802" y="176657"/>
                    <a:pt x="6802" y="3787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89245" y="6044980"/>
            <a:ext cx="1406462" cy="3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data/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486603" y="5839621"/>
            <a:ext cx="1844521" cy="757911"/>
            <a:chOff x="0" y="0"/>
            <a:chExt cx="2294414" cy="9427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401" y="6350"/>
              <a:ext cx="2287598" cy="930021"/>
            </a:xfrm>
            <a:custGeom>
              <a:avLst/>
              <a:gdLst/>
              <a:ahLst/>
              <a:cxnLst/>
              <a:rect r="r" b="b" t="t" l="l"/>
              <a:pathLst>
                <a:path h="930021" w="2287598">
                  <a:moveTo>
                    <a:pt x="0" y="372364"/>
                  </a:moveTo>
                  <a:cubicBezTo>
                    <a:pt x="0" y="166751"/>
                    <a:pt x="90263" y="0"/>
                    <a:pt x="201545" y="0"/>
                  </a:cubicBezTo>
                  <a:lnTo>
                    <a:pt x="2086054" y="0"/>
                  </a:lnTo>
                  <a:cubicBezTo>
                    <a:pt x="2197403" y="0"/>
                    <a:pt x="2287599" y="166751"/>
                    <a:pt x="2287599" y="372364"/>
                  </a:cubicBezTo>
                  <a:lnTo>
                    <a:pt x="2287599" y="557657"/>
                  </a:lnTo>
                  <a:cubicBezTo>
                    <a:pt x="2287599" y="763270"/>
                    <a:pt x="2197335" y="930021"/>
                    <a:pt x="2086054" y="930021"/>
                  </a:cubicBezTo>
                  <a:lnTo>
                    <a:pt x="201545" y="930021"/>
                  </a:lnTo>
                  <a:cubicBezTo>
                    <a:pt x="90263" y="930021"/>
                    <a:pt x="0" y="763397"/>
                    <a:pt x="0" y="55765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4400" cy="942721"/>
            </a:xfrm>
            <a:custGeom>
              <a:avLst/>
              <a:gdLst/>
              <a:ahLst/>
              <a:cxnLst/>
              <a:rect r="r" b="b" t="t" l="l"/>
              <a:pathLst>
                <a:path h="942721" w="2294400">
                  <a:moveTo>
                    <a:pt x="0" y="378714"/>
                  </a:moveTo>
                  <a:cubicBezTo>
                    <a:pt x="0" y="169545"/>
                    <a:pt x="91828" y="0"/>
                    <a:pt x="204946" y="0"/>
                  </a:cubicBezTo>
                  <a:lnTo>
                    <a:pt x="2089455" y="0"/>
                  </a:lnTo>
                  <a:lnTo>
                    <a:pt x="2089455" y="6350"/>
                  </a:lnTo>
                  <a:lnTo>
                    <a:pt x="2089455" y="0"/>
                  </a:lnTo>
                  <a:cubicBezTo>
                    <a:pt x="2202641" y="0"/>
                    <a:pt x="2294400" y="169545"/>
                    <a:pt x="2294400" y="378714"/>
                  </a:cubicBezTo>
                  <a:lnTo>
                    <a:pt x="2291000" y="378714"/>
                  </a:lnTo>
                  <a:lnTo>
                    <a:pt x="2294400" y="378714"/>
                  </a:lnTo>
                  <a:lnTo>
                    <a:pt x="2294400" y="564007"/>
                  </a:lnTo>
                  <a:lnTo>
                    <a:pt x="2291000" y="564007"/>
                  </a:lnTo>
                  <a:lnTo>
                    <a:pt x="2294400" y="564007"/>
                  </a:lnTo>
                  <a:cubicBezTo>
                    <a:pt x="2294400" y="773176"/>
                    <a:pt x="2202573" y="942721"/>
                    <a:pt x="2089455" y="942721"/>
                  </a:cubicBezTo>
                  <a:lnTo>
                    <a:pt x="2089455" y="936371"/>
                  </a:lnTo>
                  <a:lnTo>
                    <a:pt x="2089455" y="942721"/>
                  </a:lnTo>
                  <a:lnTo>
                    <a:pt x="204946" y="942721"/>
                  </a:lnTo>
                  <a:lnTo>
                    <a:pt x="204946" y="936371"/>
                  </a:lnTo>
                  <a:lnTo>
                    <a:pt x="204946" y="942721"/>
                  </a:lnTo>
                  <a:cubicBezTo>
                    <a:pt x="91828" y="942721"/>
                    <a:pt x="0" y="773303"/>
                    <a:pt x="0" y="564007"/>
                  </a:cubicBezTo>
                  <a:lnTo>
                    <a:pt x="0" y="378714"/>
                  </a:lnTo>
                  <a:lnTo>
                    <a:pt x="3401" y="378714"/>
                  </a:lnTo>
                  <a:lnTo>
                    <a:pt x="0" y="378714"/>
                  </a:lnTo>
                  <a:moveTo>
                    <a:pt x="6802" y="378714"/>
                  </a:moveTo>
                  <a:lnTo>
                    <a:pt x="6802" y="564007"/>
                  </a:lnTo>
                  <a:lnTo>
                    <a:pt x="3401" y="564007"/>
                  </a:lnTo>
                  <a:lnTo>
                    <a:pt x="6802" y="564007"/>
                  </a:lnTo>
                  <a:cubicBezTo>
                    <a:pt x="6802" y="766191"/>
                    <a:pt x="95501" y="930021"/>
                    <a:pt x="204946" y="930021"/>
                  </a:cubicBezTo>
                  <a:lnTo>
                    <a:pt x="2089455" y="930021"/>
                  </a:lnTo>
                  <a:cubicBezTo>
                    <a:pt x="2198968" y="930021"/>
                    <a:pt x="2287598" y="766064"/>
                    <a:pt x="2287598" y="564007"/>
                  </a:cubicBezTo>
                  <a:lnTo>
                    <a:pt x="2287598" y="378714"/>
                  </a:lnTo>
                  <a:cubicBezTo>
                    <a:pt x="2287598" y="176657"/>
                    <a:pt x="2198900" y="12700"/>
                    <a:pt x="2089455" y="12700"/>
                  </a:cubicBezTo>
                  <a:lnTo>
                    <a:pt x="204946" y="12700"/>
                  </a:lnTo>
                  <a:lnTo>
                    <a:pt x="204946" y="6350"/>
                  </a:lnTo>
                  <a:lnTo>
                    <a:pt x="204946" y="12700"/>
                  </a:lnTo>
                  <a:cubicBezTo>
                    <a:pt x="95501" y="12700"/>
                    <a:pt x="6802" y="176657"/>
                    <a:pt x="6802" y="3787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601694" y="6044980"/>
            <a:ext cx="1406462" cy="3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src/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4154" y="6724521"/>
            <a:ext cx="1844439" cy="757911"/>
            <a:chOff x="0" y="0"/>
            <a:chExt cx="2294312" cy="9427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401" y="6350"/>
              <a:ext cx="2287462" cy="930021"/>
            </a:xfrm>
            <a:custGeom>
              <a:avLst/>
              <a:gdLst/>
              <a:ahLst/>
              <a:cxnLst/>
              <a:rect r="r" b="b" t="t" l="l"/>
              <a:pathLst>
                <a:path h="930021" w="2287462">
                  <a:moveTo>
                    <a:pt x="0" y="372364"/>
                  </a:moveTo>
                  <a:cubicBezTo>
                    <a:pt x="0" y="166751"/>
                    <a:pt x="90263" y="0"/>
                    <a:pt x="201545" y="0"/>
                  </a:cubicBezTo>
                  <a:lnTo>
                    <a:pt x="2085918" y="0"/>
                  </a:lnTo>
                  <a:cubicBezTo>
                    <a:pt x="2197267" y="0"/>
                    <a:pt x="2287462" y="166751"/>
                    <a:pt x="2287462" y="372364"/>
                  </a:cubicBezTo>
                  <a:lnTo>
                    <a:pt x="2287462" y="557657"/>
                  </a:lnTo>
                  <a:cubicBezTo>
                    <a:pt x="2287462" y="763270"/>
                    <a:pt x="2197199" y="930021"/>
                    <a:pt x="2085918" y="930021"/>
                  </a:cubicBezTo>
                  <a:lnTo>
                    <a:pt x="201545" y="930021"/>
                  </a:lnTo>
                  <a:cubicBezTo>
                    <a:pt x="90263" y="930021"/>
                    <a:pt x="0" y="763397"/>
                    <a:pt x="0" y="55765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94350" cy="942721"/>
            </a:xfrm>
            <a:custGeom>
              <a:avLst/>
              <a:gdLst/>
              <a:ahLst/>
              <a:cxnLst/>
              <a:rect r="r" b="b" t="t" l="l"/>
              <a:pathLst>
                <a:path h="942721" w="2294350">
                  <a:moveTo>
                    <a:pt x="0" y="378714"/>
                  </a:moveTo>
                  <a:cubicBezTo>
                    <a:pt x="0" y="169545"/>
                    <a:pt x="91828" y="0"/>
                    <a:pt x="204946" y="0"/>
                  </a:cubicBezTo>
                  <a:lnTo>
                    <a:pt x="2089319" y="0"/>
                  </a:lnTo>
                  <a:lnTo>
                    <a:pt x="2089319" y="6350"/>
                  </a:lnTo>
                  <a:lnTo>
                    <a:pt x="2089319" y="0"/>
                  </a:lnTo>
                  <a:cubicBezTo>
                    <a:pt x="2202505" y="0"/>
                    <a:pt x="2294350" y="169545"/>
                    <a:pt x="2294350" y="378714"/>
                  </a:cubicBezTo>
                  <a:lnTo>
                    <a:pt x="2290931" y="378714"/>
                  </a:lnTo>
                  <a:lnTo>
                    <a:pt x="2294350" y="378714"/>
                  </a:lnTo>
                  <a:lnTo>
                    <a:pt x="2294350" y="564007"/>
                  </a:lnTo>
                  <a:lnTo>
                    <a:pt x="2290931" y="564007"/>
                  </a:lnTo>
                  <a:lnTo>
                    <a:pt x="2294350" y="564007"/>
                  </a:lnTo>
                  <a:cubicBezTo>
                    <a:pt x="2294350" y="773176"/>
                    <a:pt x="2202505" y="942721"/>
                    <a:pt x="2089386" y="942721"/>
                  </a:cubicBezTo>
                  <a:lnTo>
                    <a:pt x="2089386" y="936371"/>
                  </a:lnTo>
                  <a:lnTo>
                    <a:pt x="2089386" y="942721"/>
                  </a:lnTo>
                  <a:lnTo>
                    <a:pt x="204946" y="942721"/>
                  </a:lnTo>
                  <a:lnTo>
                    <a:pt x="204946" y="936371"/>
                  </a:lnTo>
                  <a:lnTo>
                    <a:pt x="204946" y="942721"/>
                  </a:lnTo>
                  <a:cubicBezTo>
                    <a:pt x="91828" y="942721"/>
                    <a:pt x="0" y="773303"/>
                    <a:pt x="0" y="564007"/>
                  </a:cubicBezTo>
                  <a:lnTo>
                    <a:pt x="0" y="378714"/>
                  </a:lnTo>
                  <a:lnTo>
                    <a:pt x="3401" y="378714"/>
                  </a:lnTo>
                  <a:lnTo>
                    <a:pt x="0" y="378714"/>
                  </a:lnTo>
                  <a:moveTo>
                    <a:pt x="6802" y="378714"/>
                  </a:moveTo>
                  <a:lnTo>
                    <a:pt x="6802" y="564007"/>
                  </a:lnTo>
                  <a:lnTo>
                    <a:pt x="3401" y="564007"/>
                  </a:lnTo>
                  <a:lnTo>
                    <a:pt x="6802" y="564007"/>
                  </a:lnTo>
                  <a:cubicBezTo>
                    <a:pt x="6802" y="766191"/>
                    <a:pt x="95501" y="930021"/>
                    <a:pt x="204946" y="930021"/>
                  </a:cubicBezTo>
                  <a:lnTo>
                    <a:pt x="2089319" y="930021"/>
                  </a:lnTo>
                  <a:cubicBezTo>
                    <a:pt x="2198832" y="930021"/>
                    <a:pt x="2287463" y="766064"/>
                    <a:pt x="2287463" y="564007"/>
                  </a:cubicBezTo>
                  <a:lnTo>
                    <a:pt x="2287463" y="378714"/>
                  </a:lnTo>
                  <a:cubicBezTo>
                    <a:pt x="2287530" y="176657"/>
                    <a:pt x="2198832" y="12700"/>
                    <a:pt x="2089319" y="12700"/>
                  </a:cubicBezTo>
                  <a:lnTo>
                    <a:pt x="204946" y="12700"/>
                  </a:lnTo>
                  <a:lnTo>
                    <a:pt x="204946" y="6350"/>
                  </a:lnTo>
                  <a:lnTo>
                    <a:pt x="204946" y="12700"/>
                  </a:lnTo>
                  <a:cubicBezTo>
                    <a:pt x="95501" y="12700"/>
                    <a:pt x="6802" y="176657"/>
                    <a:pt x="6802" y="3787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89245" y="6929881"/>
            <a:ext cx="1406462" cy="3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models/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486603" y="6724521"/>
            <a:ext cx="1844521" cy="757911"/>
            <a:chOff x="0" y="0"/>
            <a:chExt cx="2294414" cy="9427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3401" y="6350"/>
              <a:ext cx="2287598" cy="930021"/>
            </a:xfrm>
            <a:custGeom>
              <a:avLst/>
              <a:gdLst/>
              <a:ahLst/>
              <a:cxnLst/>
              <a:rect r="r" b="b" t="t" l="l"/>
              <a:pathLst>
                <a:path h="930021" w="2287598">
                  <a:moveTo>
                    <a:pt x="0" y="372364"/>
                  </a:moveTo>
                  <a:cubicBezTo>
                    <a:pt x="0" y="166751"/>
                    <a:pt x="90263" y="0"/>
                    <a:pt x="201545" y="0"/>
                  </a:cubicBezTo>
                  <a:lnTo>
                    <a:pt x="2086054" y="0"/>
                  </a:lnTo>
                  <a:cubicBezTo>
                    <a:pt x="2197403" y="0"/>
                    <a:pt x="2287599" y="166751"/>
                    <a:pt x="2287599" y="372364"/>
                  </a:cubicBezTo>
                  <a:lnTo>
                    <a:pt x="2287599" y="557657"/>
                  </a:lnTo>
                  <a:cubicBezTo>
                    <a:pt x="2287599" y="763270"/>
                    <a:pt x="2197335" y="930021"/>
                    <a:pt x="2086054" y="930021"/>
                  </a:cubicBezTo>
                  <a:lnTo>
                    <a:pt x="201545" y="930021"/>
                  </a:lnTo>
                  <a:cubicBezTo>
                    <a:pt x="90263" y="930021"/>
                    <a:pt x="0" y="763397"/>
                    <a:pt x="0" y="55765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94400" cy="942721"/>
            </a:xfrm>
            <a:custGeom>
              <a:avLst/>
              <a:gdLst/>
              <a:ahLst/>
              <a:cxnLst/>
              <a:rect r="r" b="b" t="t" l="l"/>
              <a:pathLst>
                <a:path h="942721" w="2294400">
                  <a:moveTo>
                    <a:pt x="0" y="378714"/>
                  </a:moveTo>
                  <a:cubicBezTo>
                    <a:pt x="0" y="169545"/>
                    <a:pt x="91828" y="0"/>
                    <a:pt x="204946" y="0"/>
                  </a:cubicBezTo>
                  <a:lnTo>
                    <a:pt x="2089455" y="0"/>
                  </a:lnTo>
                  <a:lnTo>
                    <a:pt x="2089455" y="6350"/>
                  </a:lnTo>
                  <a:lnTo>
                    <a:pt x="2089455" y="0"/>
                  </a:lnTo>
                  <a:cubicBezTo>
                    <a:pt x="2202641" y="0"/>
                    <a:pt x="2294400" y="169545"/>
                    <a:pt x="2294400" y="378714"/>
                  </a:cubicBezTo>
                  <a:lnTo>
                    <a:pt x="2291000" y="378714"/>
                  </a:lnTo>
                  <a:lnTo>
                    <a:pt x="2294400" y="378714"/>
                  </a:lnTo>
                  <a:lnTo>
                    <a:pt x="2294400" y="564007"/>
                  </a:lnTo>
                  <a:lnTo>
                    <a:pt x="2291000" y="564007"/>
                  </a:lnTo>
                  <a:lnTo>
                    <a:pt x="2294400" y="564007"/>
                  </a:lnTo>
                  <a:cubicBezTo>
                    <a:pt x="2294400" y="773176"/>
                    <a:pt x="2202573" y="942721"/>
                    <a:pt x="2089455" y="942721"/>
                  </a:cubicBezTo>
                  <a:lnTo>
                    <a:pt x="2089455" y="936371"/>
                  </a:lnTo>
                  <a:lnTo>
                    <a:pt x="2089455" y="942721"/>
                  </a:lnTo>
                  <a:lnTo>
                    <a:pt x="204946" y="942721"/>
                  </a:lnTo>
                  <a:lnTo>
                    <a:pt x="204946" y="936371"/>
                  </a:lnTo>
                  <a:lnTo>
                    <a:pt x="204946" y="942721"/>
                  </a:lnTo>
                  <a:cubicBezTo>
                    <a:pt x="91828" y="942721"/>
                    <a:pt x="0" y="773303"/>
                    <a:pt x="0" y="564007"/>
                  </a:cubicBezTo>
                  <a:lnTo>
                    <a:pt x="0" y="378714"/>
                  </a:lnTo>
                  <a:lnTo>
                    <a:pt x="3401" y="378714"/>
                  </a:lnTo>
                  <a:lnTo>
                    <a:pt x="0" y="378714"/>
                  </a:lnTo>
                  <a:moveTo>
                    <a:pt x="6802" y="378714"/>
                  </a:moveTo>
                  <a:lnTo>
                    <a:pt x="6802" y="564007"/>
                  </a:lnTo>
                  <a:lnTo>
                    <a:pt x="3401" y="564007"/>
                  </a:lnTo>
                  <a:lnTo>
                    <a:pt x="6802" y="564007"/>
                  </a:lnTo>
                  <a:cubicBezTo>
                    <a:pt x="6802" y="766191"/>
                    <a:pt x="95501" y="930021"/>
                    <a:pt x="204946" y="930021"/>
                  </a:cubicBezTo>
                  <a:lnTo>
                    <a:pt x="2089455" y="930021"/>
                  </a:lnTo>
                  <a:cubicBezTo>
                    <a:pt x="2198968" y="930021"/>
                    <a:pt x="2287598" y="766064"/>
                    <a:pt x="2287598" y="564007"/>
                  </a:cubicBezTo>
                  <a:lnTo>
                    <a:pt x="2287598" y="378714"/>
                  </a:lnTo>
                  <a:cubicBezTo>
                    <a:pt x="2287598" y="176657"/>
                    <a:pt x="2198900" y="12700"/>
                    <a:pt x="2089455" y="12700"/>
                  </a:cubicBezTo>
                  <a:lnTo>
                    <a:pt x="204946" y="12700"/>
                  </a:lnTo>
                  <a:lnTo>
                    <a:pt x="204946" y="6350"/>
                  </a:lnTo>
                  <a:lnTo>
                    <a:pt x="204946" y="12700"/>
                  </a:lnTo>
                  <a:cubicBezTo>
                    <a:pt x="95501" y="12700"/>
                    <a:pt x="6802" y="176657"/>
                    <a:pt x="6802" y="3787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601694" y="6929881"/>
            <a:ext cx="1406462" cy="3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app/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94630" y="5352789"/>
            <a:ext cx="4094824" cy="3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9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Les 3 fichiers modèles sauvegardés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589162" y="5834516"/>
            <a:ext cx="1849908" cy="788541"/>
            <a:chOff x="0" y="0"/>
            <a:chExt cx="2301114" cy="9808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802" y="12700"/>
              <a:ext cx="2287530" cy="955421"/>
            </a:xfrm>
            <a:custGeom>
              <a:avLst/>
              <a:gdLst/>
              <a:ahLst/>
              <a:cxnLst/>
              <a:rect r="r" b="b" t="t" l="l"/>
              <a:pathLst>
                <a:path h="955421" w="2287530">
                  <a:moveTo>
                    <a:pt x="0" y="372364"/>
                  </a:moveTo>
                  <a:cubicBezTo>
                    <a:pt x="0" y="166751"/>
                    <a:pt x="91148" y="0"/>
                    <a:pt x="203517" y="0"/>
                  </a:cubicBezTo>
                  <a:lnTo>
                    <a:pt x="2083945" y="0"/>
                  </a:lnTo>
                  <a:cubicBezTo>
                    <a:pt x="2196383" y="0"/>
                    <a:pt x="2287530" y="166751"/>
                    <a:pt x="2287530" y="372364"/>
                  </a:cubicBezTo>
                  <a:lnTo>
                    <a:pt x="2287530" y="583057"/>
                  </a:lnTo>
                  <a:cubicBezTo>
                    <a:pt x="2287530" y="788670"/>
                    <a:pt x="2196383" y="955421"/>
                    <a:pt x="2084013" y="955421"/>
                  </a:cubicBezTo>
                  <a:lnTo>
                    <a:pt x="203517" y="955421"/>
                  </a:lnTo>
                  <a:cubicBezTo>
                    <a:pt x="91148" y="955421"/>
                    <a:pt x="0" y="788797"/>
                    <a:pt x="0" y="5830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01067" cy="980821"/>
            </a:xfrm>
            <a:custGeom>
              <a:avLst/>
              <a:gdLst/>
              <a:ahLst/>
              <a:cxnLst/>
              <a:rect r="r" b="b" t="t" l="l"/>
              <a:pathLst>
                <a:path h="980821" w="2301067">
                  <a:moveTo>
                    <a:pt x="0" y="385064"/>
                  </a:moveTo>
                  <a:cubicBezTo>
                    <a:pt x="0" y="172212"/>
                    <a:pt x="94276" y="0"/>
                    <a:pt x="210319" y="0"/>
                  </a:cubicBezTo>
                  <a:lnTo>
                    <a:pt x="2090747" y="0"/>
                  </a:lnTo>
                  <a:lnTo>
                    <a:pt x="2090747" y="12700"/>
                  </a:lnTo>
                  <a:lnTo>
                    <a:pt x="2090747" y="0"/>
                  </a:lnTo>
                  <a:cubicBezTo>
                    <a:pt x="2206790" y="0"/>
                    <a:pt x="2301067" y="172212"/>
                    <a:pt x="2301067" y="385064"/>
                  </a:cubicBezTo>
                  <a:lnTo>
                    <a:pt x="2294265" y="385064"/>
                  </a:lnTo>
                  <a:lnTo>
                    <a:pt x="2301067" y="385064"/>
                  </a:lnTo>
                  <a:lnTo>
                    <a:pt x="2301067" y="595757"/>
                  </a:lnTo>
                  <a:lnTo>
                    <a:pt x="2294265" y="595757"/>
                  </a:lnTo>
                  <a:lnTo>
                    <a:pt x="2301067" y="595757"/>
                  </a:lnTo>
                  <a:cubicBezTo>
                    <a:pt x="2301067" y="808736"/>
                    <a:pt x="2206790" y="980821"/>
                    <a:pt x="2090747" y="980821"/>
                  </a:cubicBezTo>
                  <a:lnTo>
                    <a:pt x="2090747" y="968121"/>
                  </a:lnTo>
                  <a:lnTo>
                    <a:pt x="2090747" y="980821"/>
                  </a:lnTo>
                  <a:lnTo>
                    <a:pt x="210319" y="980821"/>
                  </a:lnTo>
                  <a:lnTo>
                    <a:pt x="210319" y="968121"/>
                  </a:lnTo>
                  <a:lnTo>
                    <a:pt x="210319" y="980821"/>
                  </a:lnTo>
                  <a:cubicBezTo>
                    <a:pt x="94276" y="980821"/>
                    <a:pt x="0" y="808736"/>
                    <a:pt x="0" y="595757"/>
                  </a:cubicBezTo>
                  <a:lnTo>
                    <a:pt x="0" y="385064"/>
                  </a:lnTo>
                  <a:lnTo>
                    <a:pt x="6802" y="385064"/>
                  </a:lnTo>
                  <a:lnTo>
                    <a:pt x="0" y="385064"/>
                  </a:lnTo>
                  <a:moveTo>
                    <a:pt x="13604" y="385064"/>
                  </a:moveTo>
                  <a:lnTo>
                    <a:pt x="13604" y="595757"/>
                  </a:lnTo>
                  <a:lnTo>
                    <a:pt x="6802" y="595757"/>
                  </a:lnTo>
                  <a:lnTo>
                    <a:pt x="13604" y="595757"/>
                  </a:lnTo>
                  <a:cubicBezTo>
                    <a:pt x="13604" y="794258"/>
                    <a:pt x="101555" y="955421"/>
                    <a:pt x="210319" y="955421"/>
                  </a:cubicBezTo>
                  <a:lnTo>
                    <a:pt x="2090747" y="955421"/>
                  </a:lnTo>
                  <a:cubicBezTo>
                    <a:pt x="2199512" y="955421"/>
                    <a:pt x="2287463" y="794131"/>
                    <a:pt x="2287463" y="595757"/>
                  </a:cubicBezTo>
                  <a:lnTo>
                    <a:pt x="2287463" y="385064"/>
                  </a:lnTo>
                  <a:cubicBezTo>
                    <a:pt x="2287530" y="186690"/>
                    <a:pt x="2199580" y="25400"/>
                    <a:pt x="2090747" y="25400"/>
                  </a:cubicBezTo>
                  <a:lnTo>
                    <a:pt x="210319" y="25400"/>
                  </a:lnTo>
                  <a:lnTo>
                    <a:pt x="210319" y="12700"/>
                  </a:lnTo>
                  <a:lnTo>
                    <a:pt x="210319" y="25400"/>
                  </a:lnTo>
                  <a:cubicBezTo>
                    <a:pt x="101555" y="25400"/>
                    <a:pt x="13604" y="186690"/>
                    <a:pt x="13604" y="38506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4712455" y="6055190"/>
            <a:ext cx="1406462" cy="3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scaler.pkl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501610" y="5834516"/>
            <a:ext cx="1849990" cy="788541"/>
            <a:chOff x="0" y="0"/>
            <a:chExt cx="2301216" cy="9808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802" y="12700"/>
              <a:ext cx="2287599" cy="955421"/>
            </a:xfrm>
            <a:custGeom>
              <a:avLst/>
              <a:gdLst/>
              <a:ahLst/>
              <a:cxnLst/>
              <a:rect r="r" b="b" t="t" l="l"/>
              <a:pathLst>
                <a:path h="955421" w="2287599">
                  <a:moveTo>
                    <a:pt x="0" y="372364"/>
                  </a:moveTo>
                  <a:cubicBezTo>
                    <a:pt x="0" y="166751"/>
                    <a:pt x="91148" y="0"/>
                    <a:pt x="203517" y="0"/>
                  </a:cubicBezTo>
                  <a:lnTo>
                    <a:pt x="2084081" y="0"/>
                  </a:lnTo>
                  <a:cubicBezTo>
                    <a:pt x="2196519" y="0"/>
                    <a:pt x="2287599" y="166751"/>
                    <a:pt x="2287599" y="372364"/>
                  </a:cubicBezTo>
                  <a:lnTo>
                    <a:pt x="2287599" y="583057"/>
                  </a:lnTo>
                  <a:cubicBezTo>
                    <a:pt x="2287599" y="788670"/>
                    <a:pt x="2196451" y="955421"/>
                    <a:pt x="2084081" y="955421"/>
                  </a:cubicBezTo>
                  <a:lnTo>
                    <a:pt x="203517" y="955421"/>
                  </a:lnTo>
                  <a:cubicBezTo>
                    <a:pt x="91148" y="955421"/>
                    <a:pt x="0" y="788797"/>
                    <a:pt x="0" y="5830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01203" cy="980821"/>
            </a:xfrm>
            <a:custGeom>
              <a:avLst/>
              <a:gdLst/>
              <a:ahLst/>
              <a:cxnLst/>
              <a:rect r="r" b="b" t="t" l="l"/>
              <a:pathLst>
                <a:path h="980821" w="2301203">
                  <a:moveTo>
                    <a:pt x="0" y="385064"/>
                  </a:moveTo>
                  <a:cubicBezTo>
                    <a:pt x="0" y="172212"/>
                    <a:pt x="94276" y="0"/>
                    <a:pt x="210319" y="0"/>
                  </a:cubicBezTo>
                  <a:lnTo>
                    <a:pt x="2090883" y="0"/>
                  </a:lnTo>
                  <a:lnTo>
                    <a:pt x="2090883" y="12700"/>
                  </a:lnTo>
                  <a:lnTo>
                    <a:pt x="2090883" y="0"/>
                  </a:lnTo>
                  <a:cubicBezTo>
                    <a:pt x="2206926" y="0"/>
                    <a:pt x="2301203" y="172212"/>
                    <a:pt x="2301203" y="385064"/>
                  </a:cubicBezTo>
                  <a:lnTo>
                    <a:pt x="2294401" y="385064"/>
                  </a:lnTo>
                  <a:lnTo>
                    <a:pt x="2301203" y="385064"/>
                  </a:lnTo>
                  <a:lnTo>
                    <a:pt x="2301203" y="595757"/>
                  </a:lnTo>
                  <a:lnTo>
                    <a:pt x="2294401" y="595757"/>
                  </a:lnTo>
                  <a:lnTo>
                    <a:pt x="2301203" y="595757"/>
                  </a:lnTo>
                  <a:cubicBezTo>
                    <a:pt x="2301203" y="808736"/>
                    <a:pt x="2206926" y="980821"/>
                    <a:pt x="2090883" y="980821"/>
                  </a:cubicBezTo>
                  <a:lnTo>
                    <a:pt x="2090883" y="968121"/>
                  </a:lnTo>
                  <a:lnTo>
                    <a:pt x="2090883" y="980821"/>
                  </a:lnTo>
                  <a:lnTo>
                    <a:pt x="210319" y="980821"/>
                  </a:lnTo>
                  <a:lnTo>
                    <a:pt x="210319" y="968121"/>
                  </a:lnTo>
                  <a:lnTo>
                    <a:pt x="210319" y="980821"/>
                  </a:lnTo>
                  <a:cubicBezTo>
                    <a:pt x="94276" y="980821"/>
                    <a:pt x="0" y="808736"/>
                    <a:pt x="0" y="595757"/>
                  </a:cubicBezTo>
                  <a:lnTo>
                    <a:pt x="0" y="385064"/>
                  </a:lnTo>
                  <a:lnTo>
                    <a:pt x="6802" y="385064"/>
                  </a:lnTo>
                  <a:lnTo>
                    <a:pt x="0" y="385064"/>
                  </a:lnTo>
                  <a:moveTo>
                    <a:pt x="13604" y="385064"/>
                  </a:moveTo>
                  <a:lnTo>
                    <a:pt x="13604" y="595757"/>
                  </a:lnTo>
                  <a:lnTo>
                    <a:pt x="6802" y="595757"/>
                  </a:lnTo>
                  <a:lnTo>
                    <a:pt x="13604" y="595757"/>
                  </a:lnTo>
                  <a:cubicBezTo>
                    <a:pt x="13604" y="794258"/>
                    <a:pt x="101555" y="955421"/>
                    <a:pt x="210319" y="955421"/>
                  </a:cubicBezTo>
                  <a:lnTo>
                    <a:pt x="2090883" y="955421"/>
                  </a:lnTo>
                  <a:cubicBezTo>
                    <a:pt x="2199648" y="955421"/>
                    <a:pt x="2287599" y="794131"/>
                    <a:pt x="2287599" y="595757"/>
                  </a:cubicBezTo>
                  <a:lnTo>
                    <a:pt x="2287599" y="385064"/>
                  </a:lnTo>
                  <a:cubicBezTo>
                    <a:pt x="2287598" y="186690"/>
                    <a:pt x="2199648" y="25400"/>
                    <a:pt x="2090883" y="25400"/>
                  </a:cubicBezTo>
                  <a:lnTo>
                    <a:pt x="210319" y="25400"/>
                  </a:lnTo>
                  <a:lnTo>
                    <a:pt x="210319" y="12700"/>
                  </a:lnTo>
                  <a:lnTo>
                    <a:pt x="210319" y="25400"/>
                  </a:lnTo>
                  <a:cubicBezTo>
                    <a:pt x="101555" y="25400"/>
                    <a:pt x="13604" y="186690"/>
                    <a:pt x="13604" y="38506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624904" y="6055190"/>
            <a:ext cx="1406462" cy="3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pca.pkl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589162" y="6739836"/>
            <a:ext cx="3762444" cy="788541"/>
            <a:chOff x="0" y="0"/>
            <a:chExt cx="4680132" cy="9808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802" y="12700"/>
              <a:ext cx="4666481" cy="955421"/>
            </a:xfrm>
            <a:custGeom>
              <a:avLst/>
              <a:gdLst/>
              <a:ahLst/>
              <a:cxnLst/>
              <a:rect r="r" b="b" t="t" l="l"/>
              <a:pathLst>
                <a:path h="955421" w="4666481">
                  <a:moveTo>
                    <a:pt x="0" y="372364"/>
                  </a:moveTo>
                  <a:cubicBezTo>
                    <a:pt x="0" y="166751"/>
                    <a:pt x="91420" y="0"/>
                    <a:pt x="204130" y="0"/>
                  </a:cubicBezTo>
                  <a:lnTo>
                    <a:pt x="4462351" y="0"/>
                  </a:lnTo>
                  <a:cubicBezTo>
                    <a:pt x="4575129" y="0"/>
                    <a:pt x="4666481" y="166751"/>
                    <a:pt x="4666481" y="372364"/>
                  </a:cubicBezTo>
                  <a:lnTo>
                    <a:pt x="4666481" y="583057"/>
                  </a:lnTo>
                  <a:cubicBezTo>
                    <a:pt x="4666481" y="788670"/>
                    <a:pt x="4575061" y="955421"/>
                    <a:pt x="4462351" y="955421"/>
                  </a:cubicBezTo>
                  <a:lnTo>
                    <a:pt x="204130" y="955421"/>
                  </a:lnTo>
                  <a:cubicBezTo>
                    <a:pt x="91420" y="955421"/>
                    <a:pt x="0" y="788797"/>
                    <a:pt x="0" y="5830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80085" cy="980821"/>
            </a:xfrm>
            <a:custGeom>
              <a:avLst/>
              <a:gdLst/>
              <a:ahLst/>
              <a:cxnLst/>
              <a:rect r="r" b="b" t="t" l="l"/>
              <a:pathLst>
                <a:path h="980821" w="4680085">
                  <a:moveTo>
                    <a:pt x="0" y="385064"/>
                  </a:moveTo>
                  <a:cubicBezTo>
                    <a:pt x="0" y="172085"/>
                    <a:pt x="94617" y="0"/>
                    <a:pt x="210932" y="0"/>
                  </a:cubicBezTo>
                  <a:lnTo>
                    <a:pt x="4469153" y="0"/>
                  </a:lnTo>
                  <a:lnTo>
                    <a:pt x="4469153" y="12700"/>
                  </a:lnTo>
                  <a:lnTo>
                    <a:pt x="4469153" y="0"/>
                  </a:lnTo>
                  <a:cubicBezTo>
                    <a:pt x="4585536" y="0"/>
                    <a:pt x="4680085" y="172085"/>
                    <a:pt x="4680085" y="385064"/>
                  </a:cubicBezTo>
                  <a:lnTo>
                    <a:pt x="4673283" y="385064"/>
                  </a:lnTo>
                  <a:lnTo>
                    <a:pt x="4680085" y="385064"/>
                  </a:lnTo>
                  <a:lnTo>
                    <a:pt x="4680085" y="595757"/>
                  </a:lnTo>
                  <a:lnTo>
                    <a:pt x="4673283" y="595757"/>
                  </a:lnTo>
                  <a:lnTo>
                    <a:pt x="4680085" y="595757"/>
                  </a:lnTo>
                  <a:cubicBezTo>
                    <a:pt x="4680085" y="808736"/>
                    <a:pt x="4585468" y="980821"/>
                    <a:pt x="4469153" y="980821"/>
                  </a:cubicBezTo>
                  <a:lnTo>
                    <a:pt x="4469153" y="968121"/>
                  </a:lnTo>
                  <a:lnTo>
                    <a:pt x="4469153" y="980821"/>
                  </a:lnTo>
                  <a:lnTo>
                    <a:pt x="210932" y="980821"/>
                  </a:lnTo>
                  <a:lnTo>
                    <a:pt x="210932" y="968121"/>
                  </a:lnTo>
                  <a:lnTo>
                    <a:pt x="210932" y="980821"/>
                  </a:lnTo>
                  <a:cubicBezTo>
                    <a:pt x="94617" y="980821"/>
                    <a:pt x="0" y="808736"/>
                    <a:pt x="0" y="595757"/>
                  </a:cubicBezTo>
                  <a:lnTo>
                    <a:pt x="0" y="385064"/>
                  </a:lnTo>
                  <a:lnTo>
                    <a:pt x="6802" y="385064"/>
                  </a:lnTo>
                  <a:lnTo>
                    <a:pt x="0" y="385064"/>
                  </a:lnTo>
                  <a:moveTo>
                    <a:pt x="13604" y="385064"/>
                  </a:moveTo>
                  <a:lnTo>
                    <a:pt x="13604" y="595757"/>
                  </a:lnTo>
                  <a:lnTo>
                    <a:pt x="6802" y="595757"/>
                  </a:lnTo>
                  <a:lnTo>
                    <a:pt x="13604" y="595757"/>
                  </a:lnTo>
                  <a:cubicBezTo>
                    <a:pt x="13604" y="794131"/>
                    <a:pt x="101827" y="955421"/>
                    <a:pt x="210932" y="955421"/>
                  </a:cubicBezTo>
                  <a:lnTo>
                    <a:pt x="4469153" y="955421"/>
                  </a:lnTo>
                  <a:cubicBezTo>
                    <a:pt x="4578326" y="955421"/>
                    <a:pt x="4666481" y="794131"/>
                    <a:pt x="4666481" y="595757"/>
                  </a:cubicBezTo>
                  <a:lnTo>
                    <a:pt x="4666481" y="385064"/>
                  </a:lnTo>
                  <a:cubicBezTo>
                    <a:pt x="4666548" y="186690"/>
                    <a:pt x="4578326" y="25400"/>
                    <a:pt x="4469153" y="25400"/>
                  </a:cubicBezTo>
                  <a:lnTo>
                    <a:pt x="210932" y="25400"/>
                  </a:lnTo>
                  <a:lnTo>
                    <a:pt x="210932" y="12700"/>
                  </a:lnTo>
                  <a:lnTo>
                    <a:pt x="210932" y="25400"/>
                  </a:lnTo>
                  <a:cubicBezTo>
                    <a:pt x="101827" y="25400"/>
                    <a:pt x="13604" y="186690"/>
                    <a:pt x="13604" y="38506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4712455" y="6960510"/>
            <a:ext cx="1406462" cy="3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00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model.pkl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000125" y="8802291"/>
            <a:ext cx="387106" cy="387106"/>
          </a:xfrm>
          <a:custGeom>
            <a:avLst/>
            <a:gdLst/>
            <a:ahLst/>
            <a:cxnLst/>
            <a:rect r="r" b="b" t="t" l="l"/>
            <a:pathLst>
              <a:path h="387106" w="387106">
                <a:moveTo>
                  <a:pt x="0" y="0"/>
                </a:moveTo>
                <a:lnTo>
                  <a:pt x="387106" y="0"/>
                </a:lnTo>
                <a:lnTo>
                  <a:pt x="387106" y="387105"/>
                </a:lnTo>
                <a:lnTo>
                  <a:pt x="0" y="387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535" t="0" r="-8535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6596358" y="8802291"/>
            <a:ext cx="387106" cy="387106"/>
          </a:xfrm>
          <a:custGeom>
            <a:avLst/>
            <a:gdLst/>
            <a:ahLst/>
            <a:cxnLst/>
            <a:rect r="r" b="b" t="t" l="l"/>
            <a:pathLst>
              <a:path h="387106" w="387106">
                <a:moveTo>
                  <a:pt x="0" y="0"/>
                </a:moveTo>
                <a:lnTo>
                  <a:pt x="387105" y="0"/>
                </a:lnTo>
                <a:lnTo>
                  <a:pt x="387105" y="387105"/>
                </a:lnTo>
                <a:lnTo>
                  <a:pt x="0" y="387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535" t="0" r="-8535" b="0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12192591" y="8802291"/>
            <a:ext cx="387106" cy="387106"/>
          </a:xfrm>
          <a:custGeom>
            <a:avLst/>
            <a:gdLst/>
            <a:ahLst/>
            <a:cxnLst/>
            <a:rect r="r" b="b" t="t" l="l"/>
            <a:pathLst>
              <a:path h="387106" w="387106">
                <a:moveTo>
                  <a:pt x="0" y="0"/>
                </a:moveTo>
                <a:lnTo>
                  <a:pt x="387105" y="0"/>
                </a:lnTo>
                <a:lnTo>
                  <a:pt x="387105" y="387105"/>
                </a:lnTo>
                <a:lnTo>
                  <a:pt x="0" y="387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535" t="0" r="-8535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29804" y="3257550"/>
            <a:ext cx="7433601" cy="3622693"/>
            <a:chOff x="0" y="0"/>
            <a:chExt cx="166782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67829" cy="812800"/>
            </a:xfrm>
            <a:custGeom>
              <a:avLst/>
              <a:gdLst/>
              <a:ahLst/>
              <a:cxnLst/>
              <a:rect r="r" b="b" t="t" l="l"/>
              <a:pathLst>
                <a:path h="812800" w="1667829">
                  <a:moveTo>
                    <a:pt x="0" y="0"/>
                  </a:moveTo>
                  <a:lnTo>
                    <a:pt x="1667829" y="0"/>
                  </a:lnTo>
                  <a:lnTo>
                    <a:pt x="166782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457" t="0" r="-9545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03389" y="681780"/>
            <a:ext cx="6792963" cy="87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Les Données Brutes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34990" y="2155327"/>
            <a:ext cx="3396405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Source du dataset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34990" y="2730551"/>
            <a:ext cx="5359003" cy="939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retail_customers_COMPLETE_CATEGORICAL.csv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34990" y="3824878"/>
            <a:ext cx="5359003" cy="167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Le dataset contient un ensemble de clients retail avec des variables comportementales et démographiques. Les principales colonnes incluent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34990" y="5658888"/>
            <a:ext cx="5359003" cy="193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25"/>
              </a:lnSpc>
              <a:buFont typeface="Arial"/>
              <a:buChar char="•"/>
            </a:pPr>
            <a:r>
              <a:rPr lang="en-US" b="true" sz="200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CustomerID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— identifiant unique</a:t>
            </a:r>
          </a:p>
          <a:p>
            <a:pPr algn="l" marL="301625" indent="-150812" lvl="1">
              <a:lnSpc>
                <a:spcPts val="3125"/>
              </a:lnSpc>
              <a:buFont typeface="Arial"/>
              <a:buChar char="•"/>
            </a:pPr>
            <a:r>
              <a:rPr lang="en-US" b="true" sz="200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— variable démographique</a:t>
            </a:r>
          </a:p>
          <a:p>
            <a:pPr algn="l" marL="301625" indent="-150812" lvl="1">
              <a:lnSpc>
                <a:spcPts val="3125"/>
              </a:lnSpc>
              <a:buFont typeface="Arial"/>
              <a:buChar char="•"/>
            </a:pPr>
            <a:r>
              <a:rPr lang="en-US" b="true" sz="200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Recency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— jours depuis dernier achat</a:t>
            </a:r>
          </a:p>
          <a:p>
            <a:pPr algn="l" marL="301625" indent="-150812" lvl="1">
              <a:lnSpc>
                <a:spcPts val="3125"/>
              </a:lnSpc>
              <a:buFont typeface="Arial"/>
              <a:buChar char="•"/>
            </a:pPr>
            <a:r>
              <a:rPr lang="en-US" b="true" sz="200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— variable cible (0/1)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34990" y="7823302"/>
            <a:ext cx="3396405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Problèmes détectés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42180" y="8722814"/>
            <a:ext cx="4449966" cy="4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Valeurs manquantes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38422" y="8722814"/>
            <a:ext cx="4449966" cy="4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Valeurs aberrantes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34655" y="8722814"/>
            <a:ext cx="4449966" cy="4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Formats inconsistants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8267" y="690115"/>
            <a:ext cx="12107618" cy="91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Nettoyage des Données — </a:t>
            </a:r>
            <a:r>
              <a:rPr lang="en-US" sz="5374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clean_data()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8267" y="2032692"/>
            <a:ext cx="16451466" cy="49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La fonction clean_data() traite systématiquement 7 problèmes identifiés dans le dataset brut avant toute modélisation.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3505" y="2812704"/>
            <a:ext cx="16460991" cy="6750844"/>
            <a:chOff x="0" y="0"/>
            <a:chExt cx="21947988" cy="9001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7885" cy="9001125"/>
            </a:xfrm>
            <a:custGeom>
              <a:avLst/>
              <a:gdLst/>
              <a:ahLst/>
              <a:cxnLst/>
              <a:rect r="r" b="b" t="t" l="l"/>
              <a:pathLst>
                <a:path h="9001125" w="21947885">
                  <a:moveTo>
                    <a:pt x="0" y="531114"/>
                  </a:moveTo>
                  <a:cubicBezTo>
                    <a:pt x="0" y="237744"/>
                    <a:pt x="237998" y="0"/>
                    <a:pt x="531495" y="0"/>
                  </a:cubicBezTo>
                  <a:lnTo>
                    <a:pt x="21416390" y="0"/>
                  </a:lnTo>
                  <a:lnTo>
                    <a:pt x="21416390" y="6350"/>
                  </a:lnTo>
                  <a:lnTo>
                    <a:pt x="21416390" y="0"/>
                  </a:lnTo>
                  <a:cubicBezTo>
                    <a:pt x="21709887" y="0"/>
                    <a:pt x="21947885" y="237744"/>
                    <a:pt x="21947885" y="531114"/>
                  </a:cubicBezTo>
                  <a:lnTo>
                    <a:pt x="21941535" y="531114"/>
                  </a:lnTo>
                  <a:lnTo>
                    <a:pt x="21947885" y="531114"/>
                  </a:lnTo>
                  <a:lnTo>
                    <a:pt x="21947885" y="8470011"/>
                  </a:lnTo>
                  <a:lnTo>
                    <a:pt x="21941535" y="8470011"/>
                  </a:lnTo>
                  <a:lnTo>
                    <a:pt x="21947885" y="8470011"/>
                  </a:lnTo>
                  <a:cubicBezTo>
                    <a:pt x="21947885" y="8763381"/>
                    <a:pt x="21709887" y="9001125"/>
                    <a:pt x="21416390" y="9001125"/>
                  </a:cubicBezTo>
                  <a:lnTo>
                    <a:pt x="21416390" y="8994775"/>
                  </a:lnTo>
                  <a:lnTo>
                    <a:pt x="21416390" y="9001125"/>
                  </a:lnTo>
                  <a:lnTo>
                    <a:pt x="531495" y="9001125"/>
                  </a:lnTo>
                  <a:lnTo>
                    <a:pt x="531495" y="8994775"/>
                  </a:lnTo>
                  <a:lnTo>
                    <a:pt x="531495" y="9001125"/>
                  </a:lnTo>
                  <a:cubicBezTo>
                    <a:pt x="237998" y="9001125"/>
                    <a:pt x="0" y="8763381"/>
                    <a:pt x="0" y="8470011"/>
                  </a:cubicBezTo>
                  <a:lnTo>
                    <a:pt x="0" y="531114"/>
                  </a:lnTo>
                  <a:lnTo>
                    <a:pt x="6350" y="531114"/>
                  </a:lnTo>
                  <a:lnTo>
                    <a:pt x="0" y="531114"/>
                  </a:lnTo>
                  <a:moveTo>
                    <a:pt x="12700" y="531114"/>
                  </a:moveTo>
                  <a:lnTo>
                    <a:pt x="12700" y="8470011"/>
                  </a:lnTo>
                  <a:lnTo>
                    <a:pt x="6350" y="8470011"/>
                  </a:lnTo>
                  <a:lnTo>
                    <a:pt x="12700" y="8470011"/>
                  </a:lnTo>
                  <a:cubicBezTo>
                    <a:pt x="12700" y="8756269"/>
                    <a:pt x="244983" y="8988425"/>
                    <a:pt x="531495" y="8988425"/>
                  </a:cubicBezTo>
                  <a:lnTo>
                    <a:pt x="21416390" y="8988425"/>
                  </a:lnTo>
                  <a:cubicBezTo>
                    <a:pt x="21702903" y="8988425"/>
                    <a:pt x="21935185" y="8756269"/>
                    <a:pt x="21935185" y="8470011"/>
                  </a:cubicBezTo>
                  <a:lnTo>
                    <a:pt x="21935185" y="531114"/>
                  </a:lnTo>
                  <a:cubicBezTo>
                    <a:pt x="21935185" y="244856"/>
                    <a:pt x="21702903" y="12700"/>
                    <a:pt x="21416390" y="12700"/>
                  </a:cubicBezTo>
                  <a:lnTo>
                    <a:pt x="531495" y="12700"/>
                  </a:lnTo>
                  <a:lnTo>
                    <a:pt x="531495" y="6350"/>
                  </a:lnTo>
                  <a:lnTo>
                    <a:pt x="531495" y="12700"/>
                  </a:lnTo>
                  <a:cubicBezTo>
                    <a:pt x="244983" y="12700"/>
                    <a:pt x="12700" y="244856"/>
                    <a:pt x="12700" y="531114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7792" y="2826991"/>
            <a:ext cx="16432416" cy="736997"/>
            <a:chOff x="0" y="0"/>
            <a:chExt cx="21909888" cy="9826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09912" cy="982726"/>
            </a:xfrm>
            <a:custGeom>
              <a:avLst/>
              <a:gdLst/>
              <a:ahLst/>
              <a:cxnLst/>
              <a:rect r="r" b="b" t="t" l="l"/>
              <a:pathLst>
                <a:path h="982726" w="21909912">
                  <a:moveTo>
                    <a:pt x="0" y="0"/>
                  </a:moveTo>
                  <a:lnTo>
                    <a:pt x="21909912" y="0"/>
                  </a:lnTo>
                  <a:lnTo>
                    <a:pt x="21909912" y="982726"/>
                  </a:lnTo>
                  <a:lnTo>
                    <a:pt x="0" y="98272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90330" y="2912716"/>
            <a:ext cx="3085805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Problème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10125" y="2912716"/>
            <a:ext cx="275243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Colonne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96545" y="2912716"/>
            <a:ext cx="900142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appliquée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7792" y="3563988"/>
            <a:ext cx="16432416" cy="736997"/>
            <a:chOff x="0" y="0"/>
            <a:chExt cx="21909888" cy="9826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09912" cy="982726"/>
            </a:xfrm>
            <a:custGeom>
              <a:avLst/>
              <a:gdLst/>
              <a:ahLst/>
              <a:cxnLst/>
              <a:rect r="r" b="b" t="t" l="l"/>
              <a:pathLst>
                <a:path h="982726" w="21909912">
                  <a:moveTo>
                    <a:pt x="0" y="0"/>
                  </a:moveTo>
                  <a:lnTo>
                    <a:pt x="21909912" y="0"/>
                  </a:lnTo>
                  <a:lnTo>
                    <a:pt x="21909912" y="982726"/>
                  </a:lnTo>
                  <a:lnTo>
                    <a:pt x="0" y="98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90330" y="3649713"/>
            <a:ext cx="3085805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Valeurs manquantes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10125" y="3649713"/>
            <a:ext cx="275243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96545" y="3649713"/>
            <a:ext cx="900142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Remplacement par la médiane de la colonne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7792" y="4300985"/>
            <a:ext cx="16432416" cy="1150144"/>
            <a:chOff x="0" y="0"/>
            <a:chExt cx="21909888" cy="1533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09912" cy="1533525"/>
            </a:xfrm>
            <a:custGeom>
              <a:avLst/>
              <a:gdLst/>
              <a:ahLst/>
              <a:cxnLst/>
              <a:rect r="r" b="b" t="t" l="l"/>
              <a:pathLst>
                <a:path h="1533525" w="21909912">
                  <a:moveTo>
                    <a:pt x="0" y="0"/>
                  </a:moveTo>
                  <a:lnTo>
                    <a:pt x="21909912" y="0"/>
                  </a:lnTo>
                  <a:lnTo>
                    <a:pt x="21909912" y="1533525"/>
                  </a:lnTo>
                  <a:lnTo>
                    <a:pt x="0" y="153352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90330" y="4386710"/>
            <a:ext cx="3085805" cy="90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Valeurs sentinelles (-1, 999)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10125" y="4386710"/>
            <a:ext cx="2752430" cy="90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SupportTicketsCount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96545" y="4386710"/>
            <a:ext cx="900142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Médiane + capping IQR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7792" y="5451129"/>
            <a:ext cx="16432416" cy="736997"/>
            <a:chOff x="0" y="0"/>
            <a:chExt cx="21909888" cy="9826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09912" cy="982726"/>
            </a:xfrm>
            <a:custGeom>
              <a:avLst/>
              <a:gdLst/>
              <a:ahLst/>
              <a:cxnLst/>
              <a:rect r="r" b="b" t="t" l="l"/>
              <a:pathLst>
                <a:path h="982726" w="21909912">
                  <a:moveTo>
                    <a:pt x="0" y="0"/>
                  </a:moveTo>
                  <a:lnTo>
                    <a:pt x="21909912" y="0"/>
                  </a:lnTo>
                  <a:lnTo>
                    <a:pt x="21909912" y="982726"/>
                  </a:lnTo>
                  <a:lnTo>
                    <a:pt x="0" y="98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90330" y="5536854"/>
            <a:ext cx="3085805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Hors plage (-1, 0, 99)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10125" y="5536854"/>
            <a:ext cx="275243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SatisfactionScore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96545" y="5536854"/>
            <a:ext cx="900142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Médiane + capping IQR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7792" y="6188126"/>
            <a:ext cx="16432416" cy="736997"/>
            <a:chOff x="0" y="0"/>
            <a:chExt cx="21909888" cy="9826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09912" cy="982726"/>
            </a:xfrm>
            <a:custGeom>
              <a:avLst/>
              <a:gdLst/>
              <a:ahLst/>
              <a:cxnLst/>
              <a:rect r="r" b="b" t="t" l="l"/>
              <a:pathLst>
                <a:path h="982726" w="21909912">
                  <a:moveTo>
                    <a:pt x="0" y="0"/>
                  </a:moveTo>
                  <a:lnTo>
                    <a:pt x="21909912" y="0"/>
                  </a:lnTo>
                  <a:lnTo>
                    <a:pt x="21909912" y="982726"/>
                  </a:lnTo>
                  <a:lnTo>
                    <a:pt x="0" y="98272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90330" y="6273851"/>
            <a:ext cx="3085805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Format inconsistant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810125" y="6273851"/>
            <a:ext cx="275243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RegistrationDate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96545" y="6273851"/>
            <a:ext cx="900142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Parsing datetime + extraction année/mois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7792" y="6925123"/>
            <a:ext cx="16432416" cy="1150144"/>
            <a:chOff x="0" y="0"/>
            <a:chExt cx="21909888" cy="15335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09912" cy="1533525"/>
            </a:xfrm>
            <a:custGeom>
              <a:avLst/>
              <a:gdLst/>
              <a:ahLst/>
              <a:cxnLst/>
              <a:rect r="r" b="b" t="t" l="l"/>
              <a:pathLst>
                <a:path h="1533525" w="21909912">
                  <a:moveTo>
                    <a:pt x="0" y="0"/>
                  </a:moveTo>
                  <a:lnTo>
                    <a:pt x="21909912" y="0"/>
                  </a:lnTo>
                  <a:lnTo>
                    <a:pt x="21909912" y="1533525"/>
                  </a:lnTo>
                  <a:lnTo>
                    <a:pt x="0" y="1533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90330" y="7010848"/>
            <a:ext cx="3085805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Variance nulle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10125" y="7010848"/>
            <a:ext cx="2752430" cy="90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NewsletterSubscribed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96545" y="7010848"/>
            <a:ext cx="900142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Suppression de la colonne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7792" y="8075266"/>
            <a:ext cx="16432416" cy="736997"/>
            <a:chOff x="0" y="0"/>
            <a:chExt cx="21909888" cy="98266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09912" cy="982726"/>
            </a:xfrm>
            <a:custGeom>
              <a:avLst/>
              <a:gdLst/>
              <a:ahLst/>
              <a:cxnLst/>
              <a:rect r="r" b="b" t="t" l="l"/>
              <a:pathLst>
                <a:path h="982726" w="21909912">
                  <a:moveTo>
                    <a:pt x="0" y="0"/>
                  </a:moveTo>
                  <a:lnTo>
                    <a:pt x="21909912" y="0"/>
                  </a:lnTo>
                  <a:lnTo>
                    <a:pt x="21909912" y="982726"/>
                  </a:lnTo>
                  <a:lnTo>
                    <a:pt x="0" y="98272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90330" y="8160991"/>
            <a:ext cx="3085805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Non prédictif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10125" y="8160991"/>
            <a:ext cx="275243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CustomerID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96545" y="8160991"/>
            <a:ext cx="900142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Suppression — identifiant sans valeur informative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27792" y="8812263"/>
            <a:ext cx="16432416" cy="736997"/>
            <a:chOff x="0" y="0"/>
            <a:chExt cx="21909888" cy="98266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09912" cy="982726"/>
            </a:xfrm>
            <a:custGeom>
              <a:avLst/>
              <a:gdLst/>
              <a:ahLst/>
              <a:cxnLst/>
              <a:rect r="r" b="b" t="t" l="l"/>
              <a:pathLst>
                <a:path h="982726" w="21909912">
                  <a:moveTo>
                    <a:pt x="0" y="0"/>
                  </a:moveTo>
                  <a:lnTo>
                    <a:pt x="21909912" y="0"/>
                  </a:lnTo>
                  <a:lnTo>
                    <a:pt x="21909912" y="982726"/>
                  </a:lnTo>
                  <a:lnTo>
                    <a:pt x="0" y="9827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190330" y="8897988"/>
            <a:ext cx="3085805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Données brutes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810125" y="8897988"/>
            <a:ext cx="275243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LastLoginIP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096545" y="8897988"/>
            <a:ext cx="9001420" cy="4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 — extraction pays/FAI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3766" y="659606"/>
            <a:ext cx="6570164" cy="84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Détail du Capping IQR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3766" y="2075107"/>
            <a:ext cx="337452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Formule mathématique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73766" y="2786358"/>
            <a:ext cx="7965729" cy="426834"/>
            <a:chOff x="0" y="0"/>
            <a:chExt cx="10620972" cy="56911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621010" cy="569087"/>
            </a:xfrm>
            <a:custGeom>
              <a:avLst/>
              <a:gdLst/>
              <a:ahLst/>
              <a:cxnLst/>
              <a:rect r="r" b="b" t="t" l="l"/>
              <a:pathLst>
                <a:path h="569087" w="10621010">
                  <a:moveTo>
                    <a:pt x="0" y="0"/>
                  </a:moveTo>
                  <a:lnTo>
                    <a:pt x="10621010" y="0"/>
                  </a:lnTo>
                  <a:lnTo>
                    <a:pt x="10621010" y="569087"/>
                  </a:lnTo>
                  <a:lnTo>
                    <a:pt x="0" y="569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" r="0" b="-17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3766" y="3504457"/>
            <a:ext cx="7965729" cy="426834"/>
            <a:chOff x="0" y="0"/>
            <a:chExt cx="10620972" cy="56911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621010" cy="569087"/>
            </a:xfrm>
            <a:custGeom>
              <a:avLst/>
              <a:gdLst/>
              <a:ahLst/>
              <a:cxnLst/>
              <a:rect r="r" b="b" t="t" l="l"/>
              <a:pathLst>
                <a:path h="569087" w="10621010">
                  <a:moveTo>
                    <a:pt x="0" y="0"/>
                  </a:moveTo>
                  <a:lnTo>
                    <a:pt x="10621010" y="0"/>
                  </a:lnTo>
                  <a:lnTo>
                    <a:pt x="10621010" y="569087"/>
                  </a:lnTo>
                  <a:lnTo>
                    <a:pt x="0" y="569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7" r="0" b="-17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73766" y="4222547"/>
            <a:ext cx="7965729" cy="426834"/>
            <a:chOff x="0" y="0"/>
            <a:chExt cx="10620972" cy="5691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621010" cy="569087"/>
            </a:xfrm>
            <a:custGeom>
              <a:avLst/>
              <a:gdLst/>
              <a:ahLst/>
              <a:cxnLst/>
              <a:rect r="r" b="b" t="t" l="l"/>
              <a:pathLst>
                <a:path h="569087" w="10621010">
                  <a:moveTo>
                    <a:pt x="0" y="0"/>
                  </a:moveTo>
                  <a:lnTo>
                    <a:pt x="10621010" y="0"/>
                  </a:lnTo>
                  <a:lnTo>
                    <a:pt x="10621010" y="569087"/>
                  </a:lnTo>
                  <a:lnTo>
                    <a:pt x="0" y="569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7" r="0" b="-17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73766" y="4940646"/>
            <a:ext cx="7965729" cy="426834"/>
            <a:chOff x="0" y="0"/>
            <a:chExt cx="10620972" cy="5691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621010" cy="569087"/>
            </a:xfrm>
            <a:custGeom>
              <a:avLst/>
              <a:gdLst/>
              <a:ahLst/>
              <a:cxnLst/>
              <a:rect r="r" b="b" t="t" l="l"/>
              <a:pathLst>
                <a:path h="569087" w="10621010">
                  <a:moveTo>
                    <a:pt x="0" y="0"/>
                  </a:moveTo>
                  <a:lnTo>
                    <a:pt x="10621010" y="0"/>
                  </a:lnTo>
                  <a:lnTo>
                    <a:pt x="10621010" y="569087"/>
                  </a:lnTo>
                  <a:lnTo>
                    <a:pt x="0" y="569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7" r="0" b="-17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73766" y="5658745"/>
            <a:ext cx="7965729" cy="426834"/>
            <a:chOff x="0" y="0"/>
            <a:chExt cx="10620972" cy="56911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621010" cy="569087"/>
            </a:xfrm>
            <a:custGeom>
              <a:avLst/>
              <a:gdLst/>
              <a:ahLst/>
              <a:cxnLst/>
              <a:rect r="r" b="b" t="t" l="l"/>
              <a:pathLst>
                <a:path h="569087" w="10621010">
                  <a:moveTo>
                    <a:pt x="0" y="0"/>
                  </a:moveTo>
                  <a:lnTo>
                    <a:pt x="10621010" y="0"/>
                  </a:lnTo>
                  <a:lnTo>
                    <a:pt x="10621010" y="569087"/>
                  </a:lnTo>
                  <a:lnTo>
                    <a:pt x="0" y="569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67" r="0" b="-17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73766" y="6376835"/>
            <a:ext cx="7965729" cy="1775670"/>
            <a:chOff x="0" y="0"/>
            <a:chExt cx="10620972" cy="23675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21010" cy="2367534"/>
            </a:xfrm>
            <a:custGeom>
              <a:avLst/>
              <a:gdLst/>
              <a:ahLst/>
              <a:cxnLst/>
              <a:rect r="r" b="b" t="t" l="l"/>
              <a:pathLst>
                <a:path h="2367534" w="10621010">
                  <a:moveTo>
                    <a:pt x="0" y="499364"/>
                  </a:moveTo>
                  <a:cubicBezTo>
                    <a:pt x="0" y="223520"/>
                    <a:pt x="223520" y="0"/>
                    <a:pt x="499364" y="0"/>
                  </a:cubicBezTo>
                  <a:lnTo>
                    <a:pt x="10121646" y="0"/>
                  </a:lnTo>
                  <a:cubicBezTo>
                    <a:pt x="10397363" y="0"/>
                    <a:pt x="10621010" y="223520"/>
                    <a:pt x="10621010" y="499364"/>
                  </a:cubicBezTo>
                  <a:lnTo>
                    <a:pt x="10621010" y="1868170"/>
                  </a:lnTo>
                  <a:cubicBezTo>
                    <a:pt x="10621010" y="2143887"/>
                    <a:pt x="10397489" y="2367534"/>
                    <a:pt x="10121646" y="2367534"/>
                  </a:cubicBezTo>
                  <a:lnTo>
                    <a:pt x="499364" y="2367534"/>
                  </a:lnTo>
                  <a:cubicBezTo>
                    <a:pt x="223520" y="2367534"/>
                    <a:pt x="0" y="2144014"/>
                    <a:pt x="0" y="1868170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23359" y="6746529"/>
            <a:ext cx="311944" cy="249584"/>
            <a:chOff x="0" y="0"/>
            <a:chExt cx="415925" cy="332778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415925" cy="332740"/>
            </a:xfrm>
            <a:custGeom>
              <a:avLst/>
              <a:gdLst/>
              <a:ahLst/>
              <a:cxnLst/>
              <a:rect r="r" b="b" t="t" l="l"/>
              <a:pathLst>
                <a:path h="332740" w="415925">
                  <a:moveTo>
                    <a:pt x="0" y="0"/>
                  </a:moveTo>
                  <a:lnTo>
                    <a:pt x="415925" y="0"/>
                  </a:lnTo>
                  <a:lnTo>
                    <a:pt x="415925" y="332740"/>
                  </a:lnTo>
                  <a:lnTo>
                    <a:pt x="0" y="33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75" t="0" r="-775" b="-1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684887" y="6593091"/>
            <a:ext cx="6905034" cy="122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Pourquoi </a:t>
            </a:r>
            <a:r>
              <a:rPr lang="en-US" sz="193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1,5</a:t>
            </a: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? → Convention de </a:t>
            </a:r>
            <a:r>
              <a:rPr lang="en-US" sz="193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John Tukey (1970)</a:t>
            </a: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référence statistique universelle pour la détection des outliers.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58030" y="2075107"/>
            <a:ext cx="578464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Exemple chiffré — SupportTicketsCount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58030" y="2648988"/>
            <a:ext cx="7965729" cy="46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-US" sz="1937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Borne inférieure :</a:t>
            </a: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2 − 1,5 × 6 = </a:t>
            </a:r>
            <a:r>
              <a:rPr lang="en-US" sz="1937">
                <a:solidFill>
                  <a:srgbClr val="2589C9"/>
                </a:solidFill>
                <a:latin typeface="Montserrat"/>
                <a:ea typeface="Montserrat"/>
                <a:cs typeface="Montserrat"/>
                <a:sym typeface="Montserrat"/>
              </a:rPr>
              <a:t>−7</a:t>
            </a: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(aucune valeur négative)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58030" y="3239843"/>
            <a:ext cx="7965729" cy="46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-US" sz="1937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Borne supérieure :</a:t>
            </a: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8 + 1,5 × 6 = </a:t>
            </a:r>
            <a:r>
              <a:rPr lang="en-US" sz="1937">
                <a:solidFill>
                  <a:srgbClr val="2589C9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58030" y="3830688"/>
            <a:ext cx="7965729" cy="84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Toute valeur supérieure à 17 est ramenée à 17. Le boxplot visualise clairement ces bornes et les valeurs extrêmes.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69004" y="8665369"/>
            <a:ext cx="5369566" cy="938212"/>
            <a:chOff x="0" y="0"/>
            <a:chExt cx="7159422" cy="12509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7146672" cy="1238250"/>
            </a:xfrm>
            <a:custGeom>
              <a:avLst/>
              <a:gdLst/>
              <a:ahLst/>
              <a:cxnLst/>
              <a:rect r="r" b="b" t="t" l="l"/>
              <a:pathLst>
                <a:path h="1238250" w="7146672">
                  <a:moveTo>
                    <a:pt x="0" y="499364"/>
                  </a:moveTo>
                  <a:cubicBezTo>
                    <a:pt x="0" y="223520"/>
                    <a:pt x="225425" y="0"/>
                    <a:pt x="503555" y="0"/>
                  </a:cubicBezTo>
                  <a:lnTo>
                    <a:pt x="6643116" y="0"/>
                  </a:lnTo>
                  <a:cubicBezTo>
                    <a:pt x="6921247" y="0"/>
                    <a:pt x="7146672" y="223520"/>
                    <a:pt x="7146672" y="499364"/>
                  </a:cubicBezTo>
                  <a:lnTo>
                    <a:pt x="7146672" y="738886"/>
                  </a:lnTo>
                  <a:cubicBezTo>
                    <a:pt x="7146671" y="1014730"/>
                    <a:pt x="6921246" y="1238250"/>
                    <a:pt x="6643116" y="1238250"/>
                  </a:cubicBezTo>
                  <a:lnTo>
                    <a:pt x="503555" y="1238250"/>
                  </a:lnTo>
                  <a:cubicBezTo>
                    <a:pt x="225425" y="1238250"/>
                    <a:pt x="0" y="1014730"/>
                    <a:pt x="0" y="738886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59372" cy="1250950"/>
            </a:xfrm>
            <a:custGeom>
              <a:avLst/>
              <a:gdLst/>
              <a:ahLst/>
              <a:cxnLst/>
              <a:rect r="r" b="b" t="t" l="l"/>
              <a:pathLst>
                <a:path h="1250950" w="7159372">
                  <a:moveTo>
                    <a:pt x="0" y="505714"/>
                  </a:moveTo>
                  <a:cubicBezTo>
                    <a:pt x="0" y="226314"/>
                    <a:pt x="228346" y="0"/>
                    <a:pt x="509905" y="0"/>
                  </a:cubicBezTo>
                  <a:lnTo>
                    <a:pt x="6649466" y="0"/>
                  </a:lnTo>
                  <a:lnTo>
                    <a:pt x="6649466" y="6350"/>
                  </a:lnTo>
                  <a:lnTo>
                    <a:pt x="6649466" y="0"/>
                  </a:lnTo>
                  <a:cubicBezTo>
                    <a:pt x="6931025" y="0"/>
                    <a:pt x="7159372" y="226314"/>
                    <a:pt x="7159372" y="505714"/>
                  </a:cubicBezTo>
                  <a:lnTo>
                    <a:pt x="7153022" y="505714"/>
                  </a:lnTo>
                  <a:lnTo>
                    <a:pt x="7159372" y="505714"/>
                  </a:lnTo>
                  <a:lnTo>
                    <a:pt x="7159372" y="745236"/>
                  </a:lnTo>
                  <a:lnTo>
                    <a:pt x="7153022" y="745236"/>
                  </a:lnTo>
                  <a:lnTo>
                    <a:pt x="7159372" y="745236"/>
                  </a:lnTo>
                  <a:cubicBezTo>
                    <a:pt x="7159372" y="1024509"/>
                    <a:pt x="6931025" y="1250950"/>
                    <a:pt x="6649466" y="1250950"/>
                  </a:cubicBezTo>
                  <a:lnTo>
                    <a:pt x="6649466" y="1244600"/>
                  </a:lnTo>
                  <a:lnTo>
                    <a:pt x="6649466" y="1250950"/>
                  </a:lnTo>
                  <a:lnTo>
                    <a:pt x="509905" y="1250950"/>
                  </a:lnTo>
                  <a:lnTo>
                    <a:pt x="509905" y="1244600"/>
                  </a:lnTo>
                  <a:lnTo>
                    <a:pt x="509905" y="1250950"/>
                  </a:lnTo>
                  <a:cubicBezTo>
                    <a:pt x="228346" y="1250950"/>
                    <a:pt x="0" y="1024636"/>
                    <a:pt x="0" y="745236"/>
                  </a:cubicBezTo>
                  <a:lnTo>
                    <a:pt x="0" y="505714"/>
                  </a:lnTo>
                  <a:lnTo>
                    <a:pt x="6350" y="505714"/>
                  </a:lnTo>
                  <a:lnTo>
                    <a:pt x="0" y="505714"/>
                  </a:lnTo>
                  <a:moveTo>
                    <a:pt x="12700" y="505714"/>
                  </a:moveTo>
                  <a:lnTo>
                    <a:pt x="12700" y="745236"/>
                  </a:lnTo>
                  <a:lnTo>
                    <a:pt x="6350" y="745236"/>
                  </a:lnTo>
                  <a:lnTo>
                    <a:pt x="12700" y="745236"/>
                  </a:lnTo>
                  <a:cubicBezTo>
                    <a:pt x="12700" y="1017524"/>
                    <a:pt x="235204" y="1238250"/>
                    <a:pt x="509905" y="1238250"/>
                  </a:cubicBezTo>
                  <a:lnTo>
                    <a:pt x="6649466" y="1238250"/>
                  </a:lnTo>
                  <a:cubicBezTo>
                    <a:pt x="6924167" y="1238250"/>
                    <a:pt x="7146672" y="1017524"/>
                    <a:pt x="7146672" y="745236"/>
                  </a:cubicBezTo>
                  <a:lnTo>
                    <a:pt x="7146672" y="505714"/>
                  </a:lnTo>
                  <a:cubicBezTo>
                    <a:pt x="7146671" y="233426"/>
                    <a:pt x="6924167" y="12700"/>
                    <a:pt x="6649466" y="12700"/>
                  </a:cubicBezTo>
                  <a:lnTo>
                    <a:pt x="509905" y="12700"/>
                  </a:lnTo>
                  <a:lnTo>
                    <a:pt x="509905" y="6350"/>
                  </a:lnTo>
                  <a:lnTo>
                    <a:pt x="509905" y="12700"/>
                  </a:lnTo>
                  <a:cubicBezTo>
                    <a:pt x="235204" y="12700"/>
                    <a:pt x="12700" y="233426"/>
                    <a:pt x="12700" y="5057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32884" y="8919715"/>
            <a:ext cx="328508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Q1 = 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59141" y="8665369"/>
            <a:ext cx="5369566" cy="938212"/>
            <a:chOff x="0" y="0"/>
            <a:chExt cx="7159422" cy="12509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7146672" cy="1238250"/>
            </a:xfrm>
            <a:custGeom>
              <a:avLst/>
              <a:gdLst/>
              <a:ahLst/>
              <a:cxnLst/>
              <a:rect r="r" b="b" t="t" l="l"/>
              <a:pathLst>
                <a:path h="1238250" w="7146672">
                  <a:moveTo>
                    <a:pt x="0" y="499364"/>
                  </a:moveTo>
                  <a:cubicBezTo>
                    <a:pt x="0" y="223520"/>
                    <a:pt x="225425" y="0"/>
                    <a:pt x="503555" y="0"/>
                  </a:cubicBezTo>
                  <a:lnTo>
                    <a:pt x="6643116" y="0"/>
                  </a:lnTo>
                  <a:cubicBezTo>
                    <a:pt x="6921247" y="0"/>
                    <a:pt x="7146672" y="223520"/>
                    <a:pt x="7146672" y="499364"/>
                  </a:cubicBezTo>
                  <a:lnTo>
                    <a:pt x="7146672" y="738886"/>
                  </a:lnTo>
                  <a:cubicBezTo>
                    <a:pt x="7146671" y="1014730"/>
                    <a:pt x="6921246" y="1238250"/>
                    <a:pt x="6643116" y="1238250"/>
                  </a:cubicBezTo>
                  <a:lnTo>
                    <a:pt x="503555" y="1238250"/>
                  </a:lnTo>
                  <a:cubicBezTo>
                    <a:pt x="225425" y="1238250"/>
                    <a:pt x="0" y="1014730"/>
                    <a:pt x="0" y="738886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59372" cy="1250950"/>
            </a:xfrm>
            <a:custGeom>
              <a:avLst/>
              <a:gdLst/>
              <a:ahLst/>
              <a:cxnLst/>
              <a:rect r="r" b="b" t="t" l="l"/>
              <a:pathLst>
                <a:path h="1250950" w="7159372">
                  <a:moveTo>
                    <a:pt x="0" y="505714"/>
                  </a:moveTo>
                  <a:cubicBezTo>
                    <a:pt x="0" y="226314"/>
                    <a:pt x="228346" y="0"/>
                    <a:pt x="509905" y="0"/>
                  </a:cubicBezTo>
                  <a:lnTo>
                    <a:pt x="6649466" y="0"/>
                  </a:lnTo>
                  <a:lnTo>
                    <a:pt x="6649466" y="6350"/>
                  </a:lnTo>
                  <a:lnTo>
                    <a:pt x="6649466" y="0"/>
                  </a:lnTo>
                  <a:cubicBezTo>
                    <a:pt x="6931025" y="0"/>
                    <a:pt x="7159372" y="226314"/>
                    <a:pt x="7159372" y="505714"/>
                  </a:cubicBezTo>
                  <a:lnTo>
                    <a:pt x="7153022" y="505714"/>
                  </a:lnTo>
                  <a:lnTo>
                    <a:pt x="7159372" y="505714"/>
                  </a:lnTo>
                  <a:lnTo>
                    <a:pt x="7159372" y="745236"/>
                  </a:lnTo>
                  <a:lnTo>
                    <a:pt x="7153022" y="745236"/>
                  </a:lnTo>
                  <a:lnTo>
                    <a:pt x="7159372" y="745236"/>
                  </a:lnTo>
                  <a:cubicBezTo>
                    <a:pt x="7159372" y="1024509"/>
                    <a:pt x="6931025" y="1250950"/>
                    <a:pt x="6649466" y="1250950"/>
                  </a:cubicBezTo>
                  <a:lnTo>
                    <a:pt x="6649466" y="1244600"/>
                  </a:lnTo>
                  <a:lnTo>
                    <a:pt x="6649466" y="1250950"/>
                  </a:lnTo>
                  <a:lnTo>
                    <a:pt x="509905" y="1250950"/>
                  </a:lnTo>
                  <a:lnTo>
                    <a:pt x="509905" y="1244600"/>
                  </a:lnTo>
                  <a:lnTo>
                    <a:pt x="509905" y="1250950"/>
                  </a:lnTo>
                  <a:cubicBezTo>
                    <a:pt x="228346" y="1250950"/>
                    <a:pt x="0" y="1024636"/>
                    <a:pt x="0" y="745236"/>
                  </a:cubicBezTo>
                  <a:lnTo>
                    <a:pt x="0" y="505714"/>
                  </a:lnTo>
                  <a:lnTo>
                    <a:pt x="6350" y="505714"/>
                  </a:lnTo>
                  <a:lnTo>
                    <a:pt x="0" y="505714"/>
                  </a:lnTo>
                  <a:moveTo>
                    <a:pt x="12700" y="505714"/>
                  </a:moveTo>
                  <a:lnTo>
                    <a:pt x="12700" y="745236"/>
                  </a:lnTo>
                  <a:lnTo>
                    <a:pt x="6350" y="745236"/>
                  </a:lnTo>
                  <a:lnTo>
                    <a:pt x="12700" y="745236"/>
                  </a:lnTo>
                  <a:cubicBezTo>
                    <a:pt x="12700" y="1017524"/>
                    <a:pt x="235204" y="1238250"/>
                    <a:pt x="509905" y="1238250"/>
                  </a:cubicBezTo>
                  <a:lnTo>
                    <a:pt x="6649466" y="1238250"/>
                  </a:lnTo>
                  <a:cubicBezTo>
                    <a:pt x="6924167" y="1238250"/>
                    <a:pt x="7146672" y="1017524"/>
                    <a:pt x="7146672" y="745236"/>
                  </a:cubicBezTo>
                  <a:lnTo>
                    <a:pt x="7146672" y="505714"/>
                  </a:lnTo>
                  <a:cubicBezTo>
                    <a:pt x="7146671" y="233426"/>
                    <a:pt x="6924167" y="12700"/>
                    <a:pt x="6649466" y="12700"/>
                  </a:cubicBezTo>
                  <a:lnTo>
                    <a:pt x="509905" y="12700"/>
                  </a:lnTo>
                  <a:lnTo>
                    <a:pt x="509905" y="6350"/>
                  </a:lnTo>
                  <a:lnTo>
                    <a:pt x="509905" y="12700"/>
                  </a:lnTo>
                  <a:cubicBezTo>
                    <a:pt x="235204" y="12700"/>
                    <a:pt x="12700" y="233426"/>
                    <a:pt x="12700" y="5057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723012" y="8919715"/>
            <a:ext cx="328508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Q3 = 8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49277" y="8665369"/>
            <a:ext cx="5369566" cy="938212"/>
            <a:chOff x="0" y="0"/>
            <a:chExt cx="7159422" cy="12509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7146672" cy="1238250"/>
            </a:xfrm>
            <a:custGeom>
              <a:avLst/>
              <a:gdLst/>
              <a:ahLst/>
              <a:cxnLst/>
              <a:rect r="r" b="b" t="t" l="l"/>
              <a:pathLst>
                <a:path h="1238250" w="7146672">
                  <a:moveTo>
                    <a:pt x="0" y="499364"/>
                  </a:moveTo>
                  <a:cubicBezTo>
                    <a:pt x="0" y="223520"/>
                    <a:pt x="225425" y="0"/>
                    <a:pt x="503555" y="0"/>
                  </a:cubicBezTo>
                  <a:lnTo>
                    <a:pt x="6643116" y="0"/>
                  </a:lnTo>
                  <a:cubicBezTo>
                    <a:pt x="6921247" y="0"/>
                    <a:pt x="7146672" y="223520"/>
                    <a:pt x="7146672" y="499364"/>
                  </a:cubicBezTo>
                  <a:lnTo>
                    <a:pt x="7146672" y="738886"/>
                  </a:lnTo>
                  <a:cubicBezTo>
                    <a:pt x="7146671" y="1014730"/>
                    <a:pt x="6921246" y="1238250"/>
                    <a:pt x="6643116" y="1238250"/>
                  </a:cubicBezTo>
                  <a:lnTo>
                    <a:pt x="503555" y="1238250"/>
                  </a:lnTo>
                  <a:cubicBezTo>
                    <a:pt x="225425" y="1238250"/>
                    <a:pt x="0" y="1014730"/>
                    <a:pt x="0" y="738886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59372" cy="1250950"/>
            </a:xfrm>
            <a:custGeom>
              <a:avLst/>
              <a:gdLst/>
              <a:ahLst/>
              <a:cxnLst/>
              <a:rect r="r" b="b" t="t" l="l"/>
              <a:pathLst>
                <a:path h="1250950" w="7159372">
                  <a:moveTo>
                    <a:pt x="0" y="505714"/>
                  </a:moveTo>
                  <a:cubicBezTo>
                    <a:pt x="0" y="226314"/>
                    <a:pt x="228346" y="0"/>
                    <a:pt x="509905" y="0"/>
                  </a:cubicBezTo>
                  <a:lnTo>
                    <a:pt x="6649466" y="0"/>
                  </a:lnTo>
                  <a:lnTo>
                    <a:pt x="6649466" y="6350"/>
                  </a:lnTo>
                  <a:lnTo>
                    <a:pt x="6649466" y="0"/>
                  </a:lnTo>
                  <a:cubicBezTo>
                    <a:pt x="6931025" y="0"/>
                    <a:pt x="7159372" y="226314"/>
                    <a:pt x="7159372" y="505714"/>
                  </a:cubicBezTo>
                  <a:lnTo>
                    <a:pt x="7153022" y="505714"/>
                  </a:lnTo>
                  <a:lnTo>
                    <a:pt x="7159372" y="505714"/>
                  </a:lnTo>
                  <a:lnTo>
                    <a:pt x="7159372" y="745236"/>
                  </a:lnTo>
                  <a:lnTo>
                    <a:pt x="7153022" y="745236"/>
                  </a:lnTo>
                  <a:lnTo>
                    <a:pt x="7159372" y="745236"/>
                  </a:lnTo>
                  <a:cubicBezTo>
                    <a:pt x="7159372" y="1024509"/>
                    <a:pt x="6931025" y="1250950"/>
                    <a:pt x="6649466" y="1250950"/>
                  </a:cubicBezTo>
                  <a:lnTo>
                    <a:pt x="6649466" y="1244600"/>
                  </a:lnTo>
                  <a:lnTo>
                    <a:pt x="6649466" y="1250950"/>
                  </a:lnTo>
                  <a:lnTo>
                    <a:pt x="509905" y="1250950"/>
                  </a:lnTo>
                  <a:lnTo>
                    <a:pt x="509905" y="1244600"/>
                  </a:lnTo>
                  <a:lnTo>
                    <a:pt x="509905" y="1250950"/>
                  </a:lnTo>
                  <a:cubicBezTo>
                    <a:pt x="228346" y="1250950"/>
                    <a:pt x="0" y="1024636"/>
                    <a:pt x="0" y="745236"/>
                  </a:cubicBezTo>
                  <a:lnTo>
                    <a:pt x="0" y="505714"/>
                  </a:lnTo>
                  <a:lnTo>
                    <a:pt x="6350" y="505714"/>
                  </a:lnTo>
                  <a:lnTo>
                    <a:pt x="0" y="505714"/>
                  </a:lnTo>
                  <a:moveTo>
                    <a:pt x="12700" y="505714"/>
                  </a:moveTo>
                  <a:lnTo>
                    <a:pt x="12700" y="745236"/>
                  </a:lnTo>
                  <a:lnTo>
                    <a:pt x="6350" y="745236"/>
                  </a:lnTo>
                  <a:lnTo>
                    <a:pt x="12700" y="745236"/>
                  </a:lnTo>
                  <a:cubicBezTo>
                    <a:pt x="12700" y="1017524"/>
                    <a:pt x="235204" y="1238250"/>
                    <a:pt x="509905" y="1238250"/>
                  </a:cubicBezTo>
                  <a:lnTo>
                    <a:pt x="6649466" y="1238250"/>
                  </a:lnTo>
                  <a:cubicBezTo>
                    <a:pt x="6924167" y="1238250"/>
                    <a:pt x="7146672" y="1017524"/>
                    <a:pt x="7146672" y="745236"/>
                  </a:cubicBezTo>
                  <a:lnTo>
                    <a:pt x="7146672" y="505714"/>
                  </a:lnTo>
                  <a:cubicBezTo>
                    <a:pt x="7146671" y="233426"/>
                    <a:pt x="6924167" y="12700"/>
                    <a:pt x="6649466" y="12700"/>
                  </a:cubicBezTo>
                  <a:lnTo>
                    <a:pt x="509905" y="12700"/>
                  </a:lnTo>
                  <a:lnTo>
                    <a:pt x="509905" y="6350"/>
                  </a:lnTo>
                  <a:lnTo>
                    <a:pt x="509905" y="12700"/>
                  </a:lnTo>
                  <a:cubicBezTo>
                    <a:pt x="235204" y="12700"/>
                    <a:pt x="12700" y="233426"/>
                    <a:pt x="12700" y="5057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313148" y="8919715"/>
            <a:ext cx="328508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IQR =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3389" y="690410"/>
            <a:ext cx="12418066" cy="87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Sélection des Features et Split Train/Test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3389" y="1647377"/>
            <a:ext cx="4554436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Les 10 variables sélectionnées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9102" y="2445544"/>
            <a:ext cx="8146104" cy="1576978"/>
            <a:chOff x="0" y="0"/>
            <a:chExt cx="10861472" cy="21026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10823321" cy="2064512"/>
            </a:xfrm>
            <a:custGeom>
              <a:avLst/>
              <a:gdLst/>
              <a:ahLst/>
              <a:cxnLst/>
              <a:rect r="r" b="b" t="t" l="l"/>
              <a:pathLst>
                <a:path h="2064512" w="10823321">
                  <a:moveTo>
                    <a:pt x="0" y="182880"/>
                  </a:moveTo>
                  <a:cubicBezTo>
                    <a:pt x="0" y="81915"/>
                    <a:pt x="83058" y="0"/>
                    <a:pt x="185547" y="0"/>
                  </a:cubicBezTo>
                  <a:lnTo>
                    <a:pt x="10637774" y="0"/>
                  </a:lnTo>
                  <a:cubicBezTo>
                    <a:pt x="10740263" y="0"/>
                    <a:pt x="10823321" y="81915"/>
                    <a:pt x="10823321" y="182880"/>
                  </a:cubicBezTo>
                  <a:lnTo>
                    <a:pt x="10823321" y="1881632"/>
                  </a:lnTo>
                  <a:cubicBezTo>
                    <a:pt x="10823321" y="1982597"/>
                    <a:pt x="10740263" y="2064512"/>
                    <a:pt x="10637774" y="2064512"/>
                  </a:cubicBezTo>
                  <a:lnTo>
                    <a:pt x="185547" y="2064512"/>
                  </a:lnTo>
                  <a:cubicBezTo>
                    <a:pt x="83058" y="2064512"/>
                    <a:pt x="0" y="1982597"/>
                    <a:pt x="0" y="18816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61421" cy="2102612"/>
            </a:xfrm>
            <a:custGeom>
              <a:avLst/>
              <a:gdLst/>
              <a:ahLst/>
              <a:cxnLst/>
              <a:rect r="r" b="b" t="t" l="l"/>
              <a:pathLst>
                <a:path h="2102612" w="10861421">
                  <a:moveTo>
                    <a:pt x="0" y="201930"/>
                  </a:moveTo>
                  <a:cubicBezTo>
                    <a:pt x="0" y="90170"/>
                    <a:pt x="91948" y="0"/>
                    <a:pt x="204597" y="0"/>
                  </a:cubicBezTo>
                  <a:lnTo>
                    <a:pt x="10656824" y="0"/>
                  </a:lnTo>
                  <a:lnTo>
                    <a:pt x="10656824" y="19050"/>
                  </a:lnTo>
                  <a:lnTo>
                    <a:pt x="10656824" y="0"/>
                  </a:lnTo>
                  <a:cubicBezTo>
                    <a:pt x="10769600" y="0"/>
                    <a:pt x="10861421" y="90170"/>
                    <a:pt x="10861421" y="201930"/>
                  </a:cubicBezTo>
                  <a:lnTo>
                    <a:pt x="10842371" y="201930"/>
                  </a:lnTo>
                  <a:lnTo>
                    <a:pt x="10861421" y="201930"/>
                  </a:lnTo>
                  <a:lnTo>
                    <a:pt x="10861421" y="1900682"/>
                  </a:lnTo>
                  <a:lnTo>
                    <a:pt x="10842371" y="1900682"/>
                  </a:lnTo>
                  <a:lnTo>
                    <a:pt x="10861421" y="1900682"/>
                  </a:lnTo>
                  <a:cubicBezTo>
                    <a:pt x="10861421" y="2012442"/>
                    <a:pt x="10769473" y="2102612"/>
                    <a:pt x="10656824" y="2102612"/>
                  </a:cubicBezTo>
                  <a:lnTo>
                    <a:pt x="10656824" y="2083562"/>
                  </a:lnTo>
                  <a:lnTo>
                    <a:pt x="10656824" y="2102612"/>
                  </a:lnTo>
                  <a:lnTo>
                    <a:pt x="204597" y="2102612"/>
                  </a:lnTo>
                  <a:lnTo>
                    <a:pt x="204597" y="2083562"/>
                  </a:lnTo>
                  <a:lnTo>
                    <a:pt x="204597" y="2102612"/>
                  </a:lnTo>
                  <a:cubicBezTo>
                    <a:pt x="91821" y="2102612"/>
                    <a:pt x="0" y="2012442"/>
                    <a:pt x="0" y="190068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00682"/>
                  </a:lnTo>
                  <a:lnTo>
                    <a:pt x="19050" y="1900682"/>
                  </a:lnTo>
                  <a:lnTo>
                    <a:pt x="38100" y="1900682"/>
                  </a:lnTo>
                  <a:cubicBezTo>
                    <a:pt x="38100" y="1990852"/>
                    <a:pt x="112395" y="2064512"/>
                    <a:pt x="204597" y="2064512"/>
                  </a:cubicBezTo>
                  <a:lnTo>
                    <a:pt x="10656824" y="2064512"/>
                  </a:lnTo>
                  <a:cubicBezTo>
                    <a:pt x="10749026" y="2064512"/>
                    <a:pt x="10823321" y="1990852"/>
                    <a:pt x="10823321" y="1900682"/>
                  </a:cubicBezTo>
                  <a:lnTo>
                    <a:pt x="10823321" y="201930"/>
                  </a:lnTo>
                  <a:cubicBezTo>
                    <a:pt x="10823321" y="111760"/>
                    <a:pt x="10749026" y="38100"/>
                    <a:pt x="10656824" y="38100"/>
                  </a:cubicBezTo>
                  <a:lnTo>
                    <a:pt x="204597" y="38100"/>
                  </a:lnTo>
                  <a:lnTo>
                    <a:pt x="204597" y="19050"/>
                  </a:lnTo>
                  <a:lnTo>
                    <a:pt x="204597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4814" y="2459831"/>
            <a:ext cx="114300" cy="1548403"/>
            <a:chOff x="0" y="0"/>
            <a:chExt cx="152400" cy="206453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2400" cy="2064512"/>
            </a:xfrm>
            <a:custGeom>
              <a:avLst/>
              <a:gdLst/>
              <a:ahLst/>
              <a:cxnLst/>
              <a:rect r="r" b="b" t="t" l="l"/>
              <a:pathLst>
                <a:path h="206451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64512"/>
                  </a:lnTo>
                  <a:lnTo>
                    <a:pt x="0" y="2064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4" r="0" b="-13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5759" y="2727427"/>
            <a:ext cx="3396405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Méthode RFM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759" y="3251749"/>
            <a:ext cx="7458523" cy="4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Recency, Frequency, MonetaryTotal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2642" y="2445544"/>
            <a:ext cx="8146256" cy="1576978"/>
            <a:chOff x="0" y="0"/>
            <a:chExt cx="10861675" cy="21026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10823575" cy="2064512"/>
            </a:xfrm>
            <a:custGeom>
              <a:avLst/>
              <a:gdLst/>
              <a:ahLst/>
              <a:cxnLst/>
              <a:rect r="r" b="b" t="t" l="l"/>
              <a:pathLst>
                <a:path h="2064512" w="10823575">
                  <a:moveTo>
                    <a:pt x="0" y="182880"/>
                  </a:moveTo>
                  <a:cubicBezTo>
                    <a:pt x="0" y="81915"/>
                    <a:pt x="83058" y="0"/>
                    <a:pt x="185547" y="0"/>
                  </a:cubicBezTo>
                  <a:lnTo>
                    <a:pt x="10638028" y="0"/>
                  </a:lnTo>
                  <a:cubicBezTo>
                    <a:pt x="10740517" y="0"/>
                    <a:pt x="10823575" y="81915"/>
                    <a:pt x="10823575" y="182880"/>
                  </a:cubicBezTo>
                  <a:lnTo>
                    <a:pt x="10823575" y="1881632"/>
                  </a:lnTo>
                  <a:cubicBezTo>
                    <a:pt x="10823575" y="1982597"/>
                    <a:pt x="10740517" y="2064512"/>
                    <a:pt x="10638028" y="2064512"/>
                  </a:cubicBezTo>
                  <a:lnTo>
                    <a:pt x="185547" y="2064512"/>
                  </a:lnTo>
                  <a:cubicBezTo>
                    <a:pt x="83058" y="2064512"/>
                    <a:pt x="0" y="1982597"/>
                    <a:pt x="0" y="18816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61675" cy="2102612"/>
            </a:xfrm>
            <a:custGeom>
              <a:avLst/>
              <a:gdLst/>
              <a:ahLst/>
              <a:cxnLst/>
              <a:rect r="r" b="b" t="t" l="l"/>
              <a:pathLst>
                <a:path h="2102612" w="10861675">
                  <a:moveTo>
                    <a:pt x="0" y="201930"/>
                  </a:moveTo>
                  <a:cubicBezTo>
                    <a:pt x="0" y="90170"/>
                    <a:pt x="91948" y="0"/>
                    <a:pt x="204597" y="0"/>
                  </a:cubicBezTo>
                  <a:lnTo>
                    <a:pt x="10657078" y="0"/>
                  </a:lnTo>
                  <a:lnTo>
                    <a:pt x="10657078" y="19050"/>
                  </a:lnTo>
                  <a:lnTo>
                    <a:pt x="10657078" y="0"/>
                  </a:lnTo>
                  <a:cubicBezTo>
                    <a:pt x="10769854" y="0"/>
                    <a:pt x="10861675" y="90170"/>
                    <a:pt x="10861675" y="201930"/>
                  </a:cubicBezTo>
                  <a:lnTo>
                    <a:pt x="10842625" y="201930"/>
                  </a:lnTo>
                  <a:lnTo>
                    <a:pt x="10861675" y="201930"/>
                  </a:lnTo>
                  <a:lnTo>
                    <a:pt x="10861675" y="1900682"/>
                  </a:lnTo>
                  <a:lnTo>
                    <a:pt x="10842625" y="1900682"/>
                  </a:lnTo>
                  <a:lnTo>
                    <a:pt x="10861675" y="1900682"/>
                  </a:lnTo>
                  <a:cubicBezTo>
                    <a:pt x="10861675" y="2012442"/>
                    <a:pt x="10769727" y="2102612"/>
                    <a:pt x="10657078" y="2102612"/>
                  </a:cubicBezTo>
                  <a:lnTo>
                    <a:pt x="10657078" y="2083562"/>
                  </a:lnTo>
                  <a:lnTo>
                    <a:pt x="10657078" y="2102612"/>
                  </a:lnTo>
                  <a:lnTo>
                    <a:pt x="204597" y="2102612"/>
                  </a:lnTo>
                  <a:lnTo>
                    <a:pt x="204597" y="2083562"/>
                  </a:lnTo>
                  <a:lnTo>
                    <a:pt x="204597" y="2102612"/>
                  </a:lnTo>
                  <a:cubicBezTo>
                    <a:pt x="91821" y="2102612"/>
                    <a:pt x="0" y="2012442"/>
                    <a:pt x="0" y="190068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00682"/>
                  </a:lnTo>
                  <a:lnTo>
                    <a:pt x="19050" y="1900682"/>
                  </a:lnTo>
                  <a:lnTo>
                    <a:pt x="38100" y="1900682"/>
                  </a:lnTo>
                  <a:cubicBezTo>
                    <a:pt x="38100" y="1990852"/>
                    <a:pt x="112395" y="2064512"/>
                    <a:pt x="204597" y="2064512"/>
                  </a:cubicBezTo>
                  <a:lnTo>
                    <a:pt x="10657078" y="2064512"/>
                  </a:lnTo>
                  <a:cubicBezTo>
                    <a:pt x="10749280" y="2064512"/>
                    <a:pt x="10823575" y="1990852"/>
                    <a:pt x="10823575" y="1900682"/>
                  </a:cubicBezTo>
                  <a:lnTo>
                    <a:pt x="10823575" y="201930"/>
                  </a:lnTo>
                  <a:cubicBezTo>
                    <a:pt x="10823575" y="111760"/>
                    <a:pt x="10749280" y="38100"/>
                    <a:pt x="10657078" y="38100"/>
                  </a:cubicBezTo>
                  <a:lnTo>
                    <a:pt x="204597" y="38100"/>
                  </a:lnTo>
                  <a:lnTo>
                    <a:pt x="204597" y="19050"/>
                  </a:lnTo>
                  <a:lnTo>
                    <a:pt x="204597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38355" y="2459831"/>
            <a:ext cx="114300" cy="1548403"/>
            <a:chOff x="0" y="0"/>
            <a:chExt cx="152400" cy="2064537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52400" cy="2064512"/>
            </a:xfrm>
            <a:custGeom>
              <a:avLst/>
              <a:gdLst/>
              <a:ahLst/>
              <a:cxnLst/>
              <a:rect r="r" b="b" t="t" l="l"/>
              <a:pathLst>
                <a:path h="206451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64512"/>
                  </a:lnTo>
                  <a:lnTo>
                    <a:pt x="0" y="2064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4" r="0" b="-13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39300" y="2727427"/>
            <a:ext cx="3611766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Signaux d'insatisfaction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9300" y="3251749"/>
            <a:ext cx="7458666" cy="4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ReturnRatio, CancelledTransactions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9102" y="4239968"/>
            <a:ext cx="8146104" cy="1576978"/>
            <a:chOff x="0" y="0"/>
            <a:chExt cx="10861472" cy="21026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10823321" cy="2064512"/>
            </a:xfrm>
            <a:custGeom>
              <a:avLst/>
              <a:gdLst/>
              <a:ahLst/>
              <a:cxnLst/>
              <a:rect r="r" b="b" t="t" l="l"/>
              <a:pathLst>
                <a:path h="2064512" w="10823321">
                  <a:moveTo>
                    <a:pt x="0" y="182880"/>
                  </a:moveTo>
                  <a:cubicBezTo>
                    <a:pt x="0" y="81915"/>
                    <a:pt x="83058" y="0"/>
                    <a:pt x="185547" y="0"/>
                  </a:cubicBezTo>
                  <a:lnTo>
                    <a:pt x="10637774" y="0"/>
                  </a:lnTo>
                  <a:cubicBezTo>
                    <a:pt x="10740263" y="0"/>
                    <a:pt x="10823321" y="81915"/>
                    <a:pt x="10823321" y="182880"/>
                  </a:cubicBezTo>
                  <a:lnTo>
                    <a:pt x="10823321" y="1881632"/>
                  </a:lnTo>
                  <a:cubicBezTo>
                    <a:pt x="10823321" y="1982597"/>
                    <a:pt x="10740263" y="2064512"/>
                    <a:pt x="10637774" y="2064512"/>
                  </a:cubicBezTo>
                  <a:lnTo>
                    <a:pt x="185547" y="2064512"/>
                  </a:lnTo>
                  <a:cubicBezTo>
                    <a:pt x="83058" y="2064512"/>
                    <a:pt x="0" y="1982597"/>
                    <a:pt x="0" y="18816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61421" cy="2102612"/>
            </a:xfrm>
            <a:custGeom>
              <a:avLst/>
              <a:gdLst/>
              <a:ahLst/>
              <a:cxnLst/>
              <a:rect r="r" b="b" t="t" l="l"/>
              <a:pathLst>
                <a:path h="2102612" w="10861421">
                  <a:moveTo>
                    <a:pt x="0" y="201930"/>
                  </a:moveTo>
                  <a:cubicBezTo>
                    <a:pt x="0" y="90170"/>
                    <a:pt x="91948" y="0"/>
                    <a:pt x="204597" y="0"/>
                  </a:cubicBezTo>
                  <a:lnTo>
                    <a:pt x="10656824" y="0"/>
                  </a:lnTo>
                  <a:lnTo>
                    <a:pt x="10656824" y="19050"/>
                  </a:lnTo>
                  <a:lnTo>
                    <a:pt x="10656824" y="0"/>
                  </a:lnTo>
                  <a:cubicBezTo>
                    <a:pt x="10769600" y="0"/>
                    <a:pt x="10861421" y="90170"/>
                    <a:pt x="10861421" y="201930"/>
                  </a:cubicBezTo>
                  <a:lnTo>
                    <a:pt x="10842371" y="201930"/>
                  </a:lnTo>
                  <a:lnTo>
                    <a:pt x="10861421" y="201930"/>
                  </a:lnTo>
                  <a:lnTo>
                    <a:pt x="10861421" y="1900682"/>
                  </a:lnTo>
                  <a:lnTo>
                    <a:pt x="10842371" y="1900682"/>
                  </a:lnTo>
                  <a:lnTo>
                    <a:pt x="10861421" y="1900682"/>
                  </a:lnTo>
                  <a:cubicBezTo>
                    <a:pt x="10861421" y="2012442"/>
                    <a:pt x="10769473" y="2102612"/>
                    <a:pt x="10656824" y="2102612"/>
                  </a:cubicBezTo>
                  <a:lnTo>
                    <a:pt x="10656824" y="2083562"/>
                  </a:lnTo>
                  <a:lnTo>
                    <a:pt x="10656824" y="2102612"/>
                  </a:lnTo>
                  <a:lnTo>
                    <a:pt x="204597" y="2102612"/>
                  </a:lnTo>
                  <a:lnTo>
                    <a:pt x="204597" y="2083562"/>
                  </a:lnTo>
                  <a:lnTo>
                    <a:pt x="204597" y="2102612"/>
                  </a:lnTo>
                  <a:cubicBezTo>
                    <a:pt x="91821" y="2102612"/>
                    <a:pt x="0" y="2012442"/>
                    <a:pt x="0" y="190068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00682"/>
                  </a:lnTo>
                  <a:lnTo>
                    <a:pt x="19050" y="1900682"/>
                  </a:lnTo>
                  <a:lnTo>
                    <a:pt x="38100" y="1900682"/>
                  </a:lnTo>
                  <a:cubicBezTo>
                    <a:pt x="38100" y="1990852"/>
                    <a:pt x="112395" y="2064512"/>
                    <a:pt x="204597" y="2064512"/>
                  </a:cubicBezTo>
                  <a:lnTo>
                    <a:pt x="10656824" y="2064512"/>
                  </a:lnTo>
                  <a:cubicBezTo>
                    <a:pt x="10749026" y="2064512"/>
                    <a:pt x="10823321" y="1990852"/>
                    <a:pt x="10823321" y="1900682"/>
                  </a:cubicBezTo>
                  <a:lnTo>
                    <a:pt x="10823321" y="201930"/>
                  </a:lnTo>
                  <a:cubicBezTo>
                    <a:pt x="10823321" y="111760"/>
                    <a:pt x="10749026" y="38100"/>
                    <a:pt x="10656824" y="38100"/>
                  </a:cubicBezTo>
                  <a:lnTo>
                    <a:pt x="204597" y="38100"/>
                  </a:lnTo>
                  <a:lnTo>
                    <a:pt x="204597" y="19050"/>
                  </a:lnTo>
                  <a:lnTo>
                    <a:pt x="204597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74814" y="4254256"/>
            <a:ext cx="114300" cy="1548403"/>
            <a:chOff x="0" y="0"/>
            <a:chExt cx="152400" cy="2064537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52400" cy="2064512"/>
            </a:xfrm>
            <a:custGeom>
              <a:avLst/>
              <a:gdLst/>
              <a:ahLst/>
              <a:cxnLst/>
              <a:rect r="r" b="b" t="t" l="l"/>
              <a:pathLst>
                <a:path h="206451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64512"/>
                  </a:lnTo>
                  <a:lnTo>
                    <a:pt x="0" y="2064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4" r="0" b="-135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75759" y="4521841"/>
            <a:ext cx="3396405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Indicateurs SAV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5759" y="5046164"/>
            <a:ext cx="7458523" cy="4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SupportTicketsCount, SatisfactionScore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2642" y="4239968"/>
            <a:ext cx="8146256" cy="1576978"/>
            <a:chOff x="0" y="0"/>
            <a:chExt cx="10861675" cy="21026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19050"/>
              <a:ext cx="10823575" cy="2064512"/>
            </a:xfrm>
            <a:custGeom>
              <a:avLst/>
              <a:gdLst/>
              <a:ahLst/>
              <a:cxnLst/>
              <a:rect r="r" b="b" t="t" l="l"/>
              <a:pathLst>
                <a:path h="2064512" w="10823575">
                  <a:moveTo>
                    <a:pt x="0" y="182880"/>
                  </a:moveTo>
                  <a:cubicBezTo>
                    <a:pt x="0" y="81915"/>
                    <a:pt x="83058" y="0"/>
                    <a:pt x="185547" y="0"/>
                  </a:cubicBezTo>
                  <a:lnTo>
                    <a:pt x="10638028" y="0"/>
                  </a:lnTo>
                  <a:cubicBezTo>
                    <a:pt x="10740517" y="0"/>
                    <a:pt x="10823575" y="81915"/>
                    <a:pt x="10823575" y="182880"/>
                  </a:cubicBezTo>
                  <a:lnTo>
                    <a:pt x="10823575" y="1881632"/>
                  </a:lnTo>
                  <a:cubicBezTo>
                    <a:pt x="10823575" y="1982597"/>
                    <a:pt x="10740517" y="2064512"/>
                    <a:pt x="10638028" y="2064512"/>
                  </a:cubicBezTo>
                  <a:lnTo>
                    <a:pt x="185547" y="2064512"/>
                  </a:lnTo>
                  <a:cubicBezTo>
                    <a:pt x="83058" y="2064512"/>
                    <a:pt x="0" y="1982597"/>
                    <a:pt x="0" y="18816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61675" cy="2102612"/>
            </a:xfrm>
            <a:custGeom>
              <a:avLst/>
              <a:gdLst/>
              <a:ahLst/>
              <a:cxnLst/>
              <a:rect r="r" b="b" t="t" l="l"/>
              <a:pathLst>
                <a:path h="2102612" w="10861675">
                  <a:moveTo>
                    <a:pt x="0" y="201930"/>
                  </a:moveTo>
                  <a:cubicBezTo>
                    <a:pt x="0" y="90170"/>
                    <a:pt x="91948" y="0"/>
                    <a:pt x="204597" y="0"/>
                  </a:cubicBezTo>
                  <a:lnTo>
                    <a:pt x="10657078" y="0"/>
                  </a:lnTo>
                  <a:lnTo>
                    <a:pt x="10657078" y="19050"/>
                  </a:lnTo>
                  <a:lnTo>
                    <a:pt x="10657078" y="0"/>
                  </a:lnTo>
                  <a:cubicBezTo>
                    <a:pt x="10769854" y="0"/>
                    <a:pt x="10861675" y="90170"/>
                    <a:pt x="10861675" y="201930"/>
                  </a:cubicBezTo>
                  <a:lnTo>
                    <a:pt x="10842625" y="201930"/>
                  </a:lnTo>
                  <a:lnTo>
                    <a:pt x="10861675" y="201930"/>
                  </a:lnTo>
                  <a:lnTo>
                    <a:pt x="10861675" y="1900682"/>
                  </a:lnTo>
                  <a:lnTo>
                    <a:pt x="10842625" y="1900682"/>
                  </a:lnTo>
                  <a:lnTo>
                    <a:pt x="10861675" y="1900682"/>
                  </a:lnTo>
                  <a:cubicBezTo>
                    <a:pt x="10861675" y="2012442"/>
                    <a:pt x="10769727" y="2102612"/>
                    <a:pt x="10657078" y="2102612"/>
                  </a:cubicBezTo>
                  <a:lnTo>
                    <a:pt x="10657078" y="2083562"/>
                  </a:lnTo>
                  <a:lnTo>
                    <a:pt x="10657078" y="2102612"/>
                  </a:lnTo>
                  <a:lnTo>
                    <a:pt x="204597" y="2102612"/>
                  </a:lnTo>
                  <a:lnTo>
                    <a:pt x="204597" y="2083562"/>
                  </a:lnTo>
                  <a:lnTo>
                    <a:pt x="204597" y="2102612"/>
                  </a:lnTo>
                  <a:cubicBezTo>
                    <a:pt x="91821" y="2102612"/>
                    <a:pt x="0" y="2012442"/>
                    <a:pt x="0" y="190068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00682"/>
                  </a:lnTo>
                  <a:lnTo>
                    <a:pt x="19050" y="1900682"/>
                  </a:lnTo>
                  <a:lnTo>
                    <a:pt x="38100" y="1900682"/>
                  </a:lnTo>
                  <a:cubicBezTo>
                    <a:pt x="38100" y="1990852"/>
                    <a:pt x="112395" y="2064512"/>
                    <a:pt x="204597" y="2064512"/>
                  </a:cubicBezTo>
                  <a:lnTo>
                    <a:pt x="10657078" y="2064512"/>
                  </a:lnTo>
                  <a:cubicBezTo>
                    <a:pt x="10749280" y="2064512"/>
                    <a:pt x="10823575" y="1990852"/>
                    <a:pt x="10823575" y="1900682"/>
                  </a:cubicBezTo>
                  <a:lnTo>
                    <a:pt x="10823575" y="201930"/>
                  </a:lnTo>
                  <a:cubicBezTo>
                    <a:pt x="10823575" y="111760"/>
                    <a:pt x="10749280" y="38100"/>
                    <a:pt x="10657078" y="38100"/>
                  </a:cubicBezTo>
                  <a:lnTo>
                    <a:pt x="204597" y="38100"/>
                  </a:lnTo>
                  <a:lnTo>
                    <a:pt x="204597" y="19050"/>
                  </a:lnTo>
                  <a:lnTo>
                    <a:pt x="204597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38355" y="4254256"/>
            <a:ext cx="114300" cy="1548403"/>
            <a:chOff x="0" y="0"/>
            <a:chExt cx="152400" cy="2064537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52400" cy="2064512"/>
            </a:xfrm>
            <a:custGeom>
              <a:avLst/>
              <a:gdLst/>
              <a:ahLst/>
              <a:cxnLst/>
              <a:rect r="r" b="b" t="t" l="l"/>
              <a:pathLst>
                <a:path h="206451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64512"/>
                  </a:lnTo>
                  <a:lnTo>
                    <a:pt x="0" y="2064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4" r="0" b="-135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639300" y="4521841"/>
            <a:ext cx="3450136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Comportement d'achat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39300" y="5046164"/>
            <a:ext cx="7458666" cy="4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TotalQuantity, AvgDaysBetweenPurchases, Age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3389" y="6152559"/>
            <a:ext cx="3396405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Formule du split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98627" y="6960241"/>
            <a:ext cx="16490747" cy="1519828"/>
            <a:chOff x="0" y="0"/>
            <a:chExt cx="21987662" cy="20264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6350" y="6350"/>
              <a:ext cx="21974938" cy="2013712"/>
            </a:xfrm>
            <a:custGeom>
              <a:avLst/>
              <a:gdLst/>
              <a:ahLst/>
              <a:cxnLst/>
              <a:rect r="r" b="b" t="t" l="l"/>
              <a:pathLst>
                <a:path h="2013712" w="21974938">
                  <a:moveTo>
                    <a:pt x="0" y="516255"/>
                  </a:moveTo>
                  <a:cubicBezTo>
                    <a:pt x="0" y="231140"/>
                    <a:pt x="232410" y="0"/>
                    <a:pt x="519176" y="0"/>
                  </a:cubicBezTo>
                  <a:lnTo>
                    <a:pt x="21455762" y="0"/>
                  </a:lnTo>
                  <a:cubicBezTo>
                    <a:pt x="21742527" y="0"/>
                    <a:pt x="21974938" y="231140"/>
                    <a:pt x="21974938" y="516255"/>
                  </a:cubicBezTo>
                  <a:lnTo>
                    <a:pt x="21974938" y="1497457"/>
                  </a:lnTo>
                  <a:cubicBezTo>
                    <a:pt x="21974938" y="1782572"/>
                    <a:pt x="21742527" y="2013712"/>
                    <a:pt x="21455762" y="2013712"/>
                  </a:cubicBezTo>
                  <a:lnTo>
                    <a:pt x="519176" y="2013712"/>
                  </a:lnTo>
                  <a:cubicBezTo>
                    <a:pt x="232410" y="2013712"/>
                    <a:pt x="0" y="1782572"/>
                    <a:pt x="0" y="149745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87638" cy="2026412"/>
            </a:xfrm>
            <a:custGeom>
              <a:avLst/>
              <a:gdLst/>
              <a:ahLst/>
              <a:cxnLst/>
              <a:rect r="r" b="b" t="t" l="l"/>
              <a:pathLst>
                <a:path h="2026412" w="21987638">
                  <a:moveTo>
                    <a:pt x="0" y="522605"/>
                  </a:moveTo>
                  <a:cubicBezTo>
                    <a:pt x="0" y="233934"/>
                    <a:pt x="235331" y="0"/>
                    <a:pt x="525526" y="0"/>
                  </a:cubicBezTo>
                  <a:lnTo>
                    <a:pt x="21462112" y="0"/>
                  </a:lnTo>
                  <a:lnTo>
                    <a:pt x="21462112" y="6350"/>
                  </a:lnTo>
                  <a:lnTo>
                    <a:pt x="21462112" y="0"/>
                  </a:lnTo>
                  <a:cubicBezTo>
                    <a:pt x="21752306" y="0"/>
                    <a:pt x="21987638" y="233934"/>
                    <a:pt x="21987638" y="522605"/>
                  </a:cubicBezTo>
                  <a:lnTo>
                    <a:pt x="21981288" y="522605"/>
                  </a:lnTo>
                  <a:lnTo>
                    <a:pt x="21987638" y="522605"/>
                  </a:lnTo>
                  <a:lnTo>
                    <a:pt x="21987638" y="1503807"/>
                  </a:lnTo>
                  <a:lnTo>
                    <a:pt x="21981288" y="1503807"/>
                  </a:lnTo>
                  <a:lnTo>
                    <a:pt x="21987638" y="1503807"/>
                  </a:lnTo>
                  <a:cubicBezTo>
                    <a:pt x="21987638" y="1792478"/>
                    <a:pt x="21752306" y="2026412"/>
                    <a:pt x="21462112" y="2026412"/>
                  </a:cubicBezTo>
                  <a:lnTo>
                    <a:pt x="21462112" y="2020062"/>
                  </a:lnTo>
                  <a:lnTo>
                    <a:pt x="21462112" y="2026412"/>
                  </a:lnTo>
                  <a:lnTo>
                    <a:pt x="525526" y="2026412"/>
                  </a:lnTo>
                  <a:lnTo>
                    <a:pt x="525526" y="2020062"/>
                  </a:lnTo>
                  <a:lnTo>
                    <a:pt x="525526" y="2026412"/>
                  </a:lnTo>
                  <a:cubicBezTo>
                    <a:pt x="235331" y="2026412"/>
                    <a:pt x="0" y="1792478"/>
                    <a:pt x="0" y="1503807"/>
                  </a:cubicBezTo>
                  <a:lnTo>
                    <a:pt x="0" y="522605"/>
                  </a:lnTo>
                  <a:lnTo>
                    <a:pt x="6350" y="522605"/>
                  </a:lnTo>
                  <a:lnTo>
                    <a:pt x="0" y="522605"/>
                  </a:lnTo>
                  <a:moveTo>
                    <a:pt x="12700" y="522605"/>
                  </a:moveTo>
                  <a:lnTo>
                    <a:pt x="12700" y="1503807"/>
                  </a:lnTo>
                  <a:lnTo>
                    <a:pt x="6350" y="1503807"/>
                  </a:lnTo>
                  <a:lnTo>
                    <a:pt x="12700" y="1503807"/>
                  </a:lnTo>
                  <a:cubicBezTo>
                    <a:pt x="12700" y="1785366"/>
                    <a:pt x="242316" y="2013712"/>
                    <a:pt x="525526" y="2013712"/>
                  </a:cubicBezTo>
                  <a:lnTo>
                    <a:pt x="21462112" y="2013712"/>
                  </a:lnTo>
                  <a:cubicBezTo>
                    <a:pt x="21745449" y="2013712"/>
                    <a:pt x="21974938" y="1785366"/>
                    <a:pt x="21974938" y="1503807"/>
                  </a:cubicBezTo>
                  <a:lnTo>
                    <a:pt x="21974938" y="522605"/>
                  </a:lnTo>
                  <a:cubicBezTo>
                    <a:pt x="21974938" y="241046"/>
                    <a:pt x="21745322" y="12700"/>
                    <a:pt x="21462112" y="12700"/>
                  </a:cubicBezTo>
                  <a:lnTo>
                    <a:pt x="525526" y="12700"/>
                  </a:lnTo>
                  <a:lnTo>
                    <a:pt x="525526" y="6350"/>
                  </a:lnTo>
                  <a:lnTo>
                    <a:pt x="525526" y="12700"/>
                  </a:lnTo>
                  <a:cubicBezTo>
                    <a:pt x="242316" y="12700"/>
                    <a:pt x="12700" y="241046"/>
                    <a:pt x="12700" y="5226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2914" y="6974529"/>
            <a:ext cx="8231086" cy="1491253"/>
            <a:chOff x="0" y="0"/>
            <a:chExt cx="10974781" cy="19883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4705" cy="1988312"/>
            </a:xfrm>
            <a:custGeom>
              <a:avLst/>
              <a:gdLst/>
              <a:ahLst/>
              <a:cxnLst/>
              <a:rect r="r" b="b" t="t" l="l"/>
              <a:pathLst>
                <a:path h="1988312" w="10974705">
                  <a:moveTo>
                    <a:pt x="0" y="516255"/>
                  </a:moveTo>
                  <a:cubicBezTo>
                    <a:pt x="0" y="231140"/>
                    <a:pt x="231140" y="0"/>
                    <a:pt x="516255" y="0"/>
                  </a:cubicBezTo>
                  <a:lnTo>
                    <a:pt x="10458450" y="0"/>
                  </a:lnTo>
                  <a:cubicBezTo>
                    <a:pt x="10743565" y="0"/>
                    <a:pt x="10974705" y="231140"/>
                    <a:pt x="10974705" y="516255"/>
                  </a:cubicBezTo>
                  <a:lnTo>
                    <a:pt x="10974705" y="1472057"/>
                  </a:lnTo>
                  <a:cubicBezTo>
                    <a:pt x="10974705" y="1757172"/>
                    <a:pt x="10743565" y="1988312"/>
                    <a:pt x="10458450" y="1988312"/>
                  </a:cubicBezTo>
                  <a:lnTo>
                    <a:pt x="516255" y="1988312"/>
                  </a:lnTo>
                  <a:cubicBezTo>
                    <a:pt x="231140" y="1988312"/>
                    <a:pt x="0" y="1757172"/>
                    <a:pt x="0" y="147205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70984" y="7213549"/>
            <a:ext cx="3396405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80% — Apprentissage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70984" y="7737872"/>
            <a:ext cx="7714955" cy="4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X_train, y_train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144000" y="6974529"/>
            <a:ext cx="8231086" cy="1491253"/>
            <a:chOff x="0" y="0"/>
            <a:chExt cx="10974781" cy="19883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4832" cy="1988312"/>
            </a:xfrm>
            <a:custGeom>
              <a:avLst/>
              <a:gdLst/>
              <a:ahLst/>
              <a:cxnLst/>
              <a:rect r="r" b="b" t="t" l="l"/>
              <a:pathLst>
                <a:path h="1988312" w="10974832">
                  <a:moveTo>
                    <a:pt x="0" y="0"/>
                  </a:moveTo>
                  <a:lnTo>
                    <a:pt x="10974832" y="0"/>
                  </a:lnTo>
                  <a:lnTo>
                    <a:pt x="10974832" y="1988312"/>
                  </a:lnTo>
                  <a:lnTo>
                    <a:pt x="0" y="1988312"/>
                  </a:lnTo>
                  <a:close/>
                </a:path>
              </a:pathLst>
            </a:custGeom>
            <a:solidFill>
              <a:srgbClr val="D4E9F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144000" y="6974529"/>
            <a:ext cx="28575" cy="1491253"/>
            <a:chOff x="0" y="0"/>
            <a:chExt cx="38100" cy="198833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100" cy="1988312"/>
            </a:xfrm>
            <a:custGeom>
              <a:avLst/>
              <a:gdLst/>
              <a:ahLst/>
              <a:cxnLst/>
              <a:rect r="r" b="b" t="t" l="l"/>
              <a:pathLst>
                <a:path h="198831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969262"/>
                  </a:lnTo>
                  <a:cubicBezTo>
                    <a:pt x="38100" y="1979803"/>
                    <a:pt x="29591" y="1988312"/>
                    <a:pt x="19050" y="1988312"/>
                  </a:cubicBezTo>
                  <a:cubicBezTo>
                    <a:pt x="8509" y="1988312"/>
                    <a:pt x="0" y="1979803"/>
                    <a:pt x="0" y="1969262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402070" y="7213549"/>
            <a:ext cx="3396405" cy="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20% — Évaluation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02070" y="7737872"/>
            <a:ext cx="7714955" cy="46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X_test, y_test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03389" y="8685314"/>
            <a:ext cx="16481222" cy="88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Paramètre stratify=y : garantit la </a:t>
            </a:r>
            <a:r>
              <a:rPr lang="en-US" sz="200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même proportion Churn / No Churn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dans les deux ensembles pour une évaluation non biaisée.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8654" y="700830"/>
            <a:ext cx="9480794" cy="86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Normalisation — StandardScaler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654" y="2149973"/>
            <a:ext cx="3757908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Le problème des échelles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654" y="2738885"/>
            <a:ext cx="7945641" cy="469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Les variables ont des ordres de grandeur très différents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8654" y="3346552"/>
            <a:ext cx="7945641" cy="86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Sans normalisation, les algorithmes accordent un poids disproportionné aux variables à grande amplitude.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654" y="4438202"/>
            <a:ext cx="4047830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Formule de standardisation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8654" y="5166570"/>
            <a:ext cx="7945641" cy="672551"/>
            <a:chOff x="0" y="0"/>
            <a:chExt cx="10594188" cy="89673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594213" cy="896747"/>
            </a:xfrm>
            <a:custGeom>
              <a:avLst/>
              <a:gdLst/>
              <a:ahLst/>
              <a:cxnLst/>
              <a:rect r="r" b="b" t="t" l="l"/>
              <a:pathLst>
                <a:path h="896747" w="10594213">
                  <a:moveTo>
                    <a:pt x="0" y="0"/>
                  </a:moveTo>
                  <a:lnTo>
                    <a:pt x="10594213" y="0"/>
                  </a:lnTo>
                  <a:lnTo>
                    <a:pt x="10594213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8" r="0" b="-22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88654" y="6064148"/>
            <a:ext cx="7945641" cy="86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Résultat : toutes les valeurs se retrouvent typiquement entre </a:t>
            </a:r>
            <a:r>
              <a:rPr lang="en-US" sz="1937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−2 et +2</a:t>
            </a: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63240" y="2149973"/>
            <a:ext cx="4536729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Règle critique — fit / transform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58477" y="2840088"/>
            <a:ext cx="580730" cy="580730"/>
            <a:chOff x="0" y="0"/>
            <a:chExt cx="774306" cy="7743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761619" cy="761619"/>
            </a:xfrm>
            <a:custGeom>
              <a:avLst/>
              <a:gdLst/>
              <a:ahLst/>
              <a:cxnLst/>
              <a:rect r="r" b="b" t="t" l="l"/>
              <a:pathLst>
                <a:path h="761619" w="761619">
                  <a:moveTo>
                    <a:pt x="0" y="380746"/>
                  </a:moveTo>
                  <a:cubicBezTo>
                    <a:pt x="0" y="170434"/>
                    <a:pt x="170434" y="0"/>
                    <a:pt x="380746" y="0"/>
                  </a:cubicBezTo>
                  <a:cubicBezTo>
                    <a:pt x="591058" y="0"/>
                    <a:pt x="761619" y="170434"/>
                    <a:pt x="761619" y="380746"/>
                  </a:cubicBezTo>
                  <a:cubicBezTo>
                    <a:pt x="761619" y="591058"/>
                    <a:pt x="591058" y="761619"/>
                    <a:pt x="380746" y="761619"/>
                  </a:cubicBezTo>
                  <a:cubicBezTo>
                    <a:pt x="170434" y="761619"/>
                    <a:pt x="0" y="591058"/>
                    <a:pt x="0" y="380746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4319" cy="774192"/>
            </a:xfrm>
            <a:custGeom>
              <a:avLst/>
              <a:gdLst/>
              <a:ahLst/>
              <a:cxnLst/>
              <a:rect r="r" b="b" t="t" l="l"/>
              <a:pathLst>
                <a:path h="774192" w="774319">
                  <a:moveTo>
                    <a:pt x="0" y="387096"/>
                  </a:moveTo>
                  <a:cubicBezTo>
                    <a:pt x="0" y="173355"/>
                    <a:pt x="173355" y="0"/>
                    <a:pt x="387096" y="0"/>
                  </a:cubicBezTo>
                  <a:cubicBezTo>
                    <a:pt x="389001" y="0"/>
                    <a:pt x="390906" y="889"/>
                    <a:pt x="392049" y="2413"/>
                  </a:cubicBezTo>
                  <a:lnTo>
                    <a:pt x="387096" y="6350"/>
                  </a:lnTo>
                  <a:lnTo>
                    <a:pt x="387096" y="0"/>
                  </a:lnTo>
                  <a:lnTo>
                    <a:pt x="387096" y="6350"/>
                  </a:lnTo>
                  <a:lnTo>
                    <a:pt x="387096" y="0"/>
                  </a:lnTo>
                  <a:cubicBezTo>
                    <a:pt x="600964" y="0"/>
                    <a:pt x="774319" y="173355"/>
                    <a:pt x="774319" y="387096"/>
                  </a:cubicBezTo>
                  <a:cubicBezTo>
                    <a:pt x="774319" y="389890"/>
                    <a:pt x="772541" y="392303"/>
                    <a:pt x="770001" y="393065"/>
                  </a:cubicBezTo>
                  <a:lnTo>
                    <a:pt x="767969" y="387096"/>
                  </a:lnTo>
                  <a:lnTo>
                    <a:pt x="774319" y="387096"/>
                  </a:lnTo>
                  <a:cubicBezTo>
                    <a:pt x="774319" y="600964"/>
                    <a:pt x="600964" y="774192"/>
                    <a:pt x="387223" y="774192"/>
                  </a:cubicBezTo>
                  <a:lnTo>
                    <a:pt x="387223" y="767842"/>
                  </a:lnTo>
                  <a:lnTo>
                    <a:pt x="387223" y="774192"/>
                  </a:lnTo>
                  <a:cubicBezTo>
                    <a:pt x="173355" y="774319"/>
                    <a:pt x="0" y="600964"/>
                    <a:pt x="0" y="387096"/>
                  </a:cubicBezTo>
                  <a:lnTo>
                    <a:pt x="6350" y="387096"/>
                  </a:lnTo>
                  <a:lnTo>
                    <a:pt x="0" y="387096"/>
                  </a:lnTo>
                  <a:moveTo>
                    <a:pt x="12700" y="387096"/>
                  </a:moveTo>
                  <a:lnTo>
                    <a:pt x="6350" y="387096"/>
                  </a:lnTo>
                  <a:lnTo>
                    <a:pt x="12700" y="387096"/>
                  </a:lnTo>
                  <a:cubicBezTo>
                    <a:pt x="12700" y="593979"/>
                    <a:pt x="180340" y="761619"/>
                    <a:pt x="387096" y="761619"/>
                  </a:cubicBezTo>
                  <a:cubicBezTo>
                    <a:pt x="593852" y="761619"/>
                    <a:pt x="761492" y="593979"/>
                    <a:pt x="761492" y="387223"/>
                  </a:cubicBezTo>
                  <a:cubicBezTo>
                    <a:pt x="761492" y="384429"/>
                    <a:pt x="763270" y="382016"/>
                    <a:pt x="765810" y="381254"/>
                  </a:cubicBezTo>
                  <a:lnTo>
                    <a:pt x="767842" y="387223"/>
                  </a:lnTo>
                  <a:lnTo>
                    <a:pt x="761492" y="387223"/>
                  </a:lnTo>
                  <a:cubicBezTo>
                    <a:pt x="761619" y="180340"/>
                    <a:pt x="593979" y="12700"/>
                    <a:pt x="387096" y="12700"/>
                  </a:cubicBezTo>
                  <a:cubicBezTo>
                    <a:pt x="385191" y="12700"/>
                    <a:pt x="383286" y="11811"/>
                    <a:pt x="382143" y="10287"/>
                  </a:cubicBezTo>
                  <a:lnTo>
                    <a:pt x="387096" y="6350"/>
                  </a:lnTo>
                  <a:lnTo>
                    <a:pt x="387096" y="12700"/>
                  </a:lnTo>
                  <a:cubicBezTo>
                    <a:pt x="180340" y="12700"/>
                    <a:pt x="12700" y="180340"/>
                    <a:pt x="12700" y="387096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48441" y="2879903"/>
            <a:ext cx="400793" cy="501101"/>
            <a:chOff x="0" y="0"/>
            <a:chExt cx="534391" cy="6681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4392" cy="668138"/>
            </a:xfrm>
            <a:custGeom>
              <a:avLst/>
              <a:gdLst/>
              <a:ahLst/>
              <a:cxnLst/>
              <a:rect r="r" b="b" t="t" l="l"/>
              <a:pathLst>
                <a:path h="668138" w="534392">
                  <a:moveTo>
                    <a:pt x="0" y="0"/>
                  </a:moveTo>
                  <a:lnTo>
                    <a:pt x="534392" y="0"/>
                  </a:lnTo>
                  <a:lnTo>
                    <a:pt x="534392" y="668138"/>
                  </a:lnTo>
                  <a:lnTo>
                    <a:pt x="0" y="6681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4" t="0" r="-11041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57150"/>
              <a:ext cx="534391" cy="610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5"/>
                </a:lnSpc>
              </a:pPr>
              <a:r>
                <a:rPr lang="en-US" sz="3125" b="true">
                  <a:solidFill>
                    <a:srgbClr val="38465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72417" y="2922537"/>
            <a:ext cx="3340741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fit_transform sur train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72417" y="3511448"/>
            <a:ext cx="7136454" cy="86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On calcule moyenne et écart-type sur l'ensemble d'apprentissage uniquement.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58477" y="4845844"/>
            <a:ext cx="580730" cy="580730"/>
            <a:chOff x="0" y="0"/>
            <a:chExt cx="774306" cy="7743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761619" cy="761619"/>
            </a:xfrm>
            <a:custGeom>
              <a:avLst/>
              <a:gdLst/>
              <a:ahLst/>
              <a:cxnLst/>
              <a:rect r="r" b="b" t="t" l="l"/>
              <a:pathLst>
                <a:path h="761619" w="761619">
                  <a:moveTo>
                    <a:pt x="0" y="380746"/>
                  </a:moveTo>
                  <a:cubicBezTo>
                    <a:pt x="0" y="170434"/>
                    <a:pt x="170434" y="0"/>
                    <a:pt x="380746" y="0"/>
                  </a:cubicBezTo>
                  <a:cubicBezTo>
                    <a:pt x="591058" y="0"/>
                    <a:pt x="761619" y="170434"/>
                    <a:pt x="761619" y="380746"/>
                  </a:cubicBezTo>
                  <a:cubicBezTo>
                    <a:pt x="761619" y="591058"/>
                    <a:pt x="591058" y="761619"/>
                    <a:pt x="380746" y="761619"/>
                  </a:cubicBezTo>
                  <a:cubicBezTo>
                    <a:pt x="170434" y="761619"/>
                    <a:pt x="0" y="591058"/>
                    <a:pt x="0" y="380746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4319" cy="774192"/>
            </a:xfrm>
            <a:custGeom>
              <a:avLst/>
              <a:gdLst/>
              <a:ahLst/>
              <a:cxnLst/>
              <a:rect r="r" b="b" t="t" l="l"/>
              <a:pathLst>
                <a:path h="774192" w="774319">
                  <a:moveTo>
                    <a:pt x="0" y="387096"/>
                  </a:moveTo>
                  <a:cubicBezTo>
                    <a:pt x="0" y="173355"/>
                    <a:pt x="173355" y="0"/>
                    <a:pt x="387096" y="0"/>
                  </a:cubicBezTo>
                  <a:cubicBezTo>
                    <a:pt x="389001" y="0"/>
                    <a:pt x="390906" y="889"/>
                    <a:pt x="392049" y="2413"/>
                  </a:cubicBezTo>
                  <a:lnTo>
                    <a:pt x="387096" y="6350"/>
                  </a:lnTo>
                  <a:lnTo>
                    <a:pt x="387096" y="0"/>
                  </a:lnTo>
                  <a:lnTo>
                    <a:pt x="387096" y="6350"/>
                  </a:lnTo>
                  <a:lnTo>
                    <a:pt x="387096" y="0"/>
                  </a:lnTo>
                  <a:cubicBezTo>
                    <a:pt x="600964" y="0"/>
                    <a:pt x="774319" y="173355"/>
                    <a:pt x="774319" y="387096"/>
                  </a:cubicBezTo>
                  <a:cubicBezTo>
                    <a:pt x="774319" y="389890"/>
                    <a:pt x="772541" y="392303"/>
                    <a:pt x="770001" y="393065"/>
                  </a:cubicBezTo>
                  <a:lnTo>
                    <a:pt x="767969" y="387096"/>
                  </a:lnTo>
                  <a:lnTo>
                    <a:pt x="774319" y="387096"/>
                  </a:lnTo>
                  <a:cubicBezTo>
                    <a:pt x="774319" y="600964"/>
                    <a:pt x="600964" y="774192"/>
                    <a:pt x="387223" y="774192"/>
                  </a:cubicBezTo>
                  <a:lnTo>
                    <a:pt x="387223" y="767842"/>
                  </a:lnTo>
                  <a:lnTo>
                    <a:pt x="387223" y="774192"/>
                  </a:lnTo>
                  <a:cubicBezTo>
                    <a:pt x="173355" y="774319"/>
                    <a:pt x="0" y="600964"/>
                    <a:pt x="0" y="387096"/>
                  </a:cubicBezTo>
                  <a:lnTo>
                    <a:pt x="6350" y="387096"/>
                  </a:lnTo>
                  <a:lnTo>
                    <a:pt x="0" y="387096"/>
                  </a:lnTo>
                  <a:moveTo>
                    <a:pt x="12700" y="387096"/>
                  </a:moveTo>
                  <a:lnTo>
                    <a:pt x="6350" y="387096"/>
                  </a:lnTo>
                  <a:lnTo>
                    <a:pt x="12700" y="387096"/>
                  </a:lnTo>
                  <a:cubicBezTo>
                    <a:pt x="12700" y="593979"/>
                    <a:pt x="180340" y="761619"/>
                    <a:pt x="387096" y="761619"/>
                  </a:cubicBezTo>
                  <a:cubicBezTo>
                    <a:pt x="593852" y="761619"/>
                    <a:pt x="761492" y="593979"/>
                    <a:pt x="761492" y="387223"/>
                  </a:cubicBezTo>
                  <a:cubicBezTo>
                    <a:pt x="761492" y="384429"/>
                    <a:pt x="763270" y="382016"/>
                    <a:pt x="765810" y="381254"/>
                  </a:cubicBezTo>
                  <a:lnTo>
                    <a:pt x="767842" y="387223"/>
                  </a:lnTo>
                  <a:lnTo>
                    <a:pt x="761492" y="387223"/>
                  </a:lnTo>
                  <a:cubicBezTo>
                    <a:pt x="761619" y="180340"/>
                    <a:pt x="593979" y="12700"/>
                    <a:pt x="387096" y="12700"/>
                  </a:cubicBezTo>
                  <a:cubicBezTo>
                    <a:pt x="385191" y="12700"/>
                    <a:pt x="383286" y="11811"/>
                    <a:pt x="382143" y="10287"/>
                  </a:cubicBezTo>
                  <a:lnTo>
                    <a:pt x="387096" y="6350"/>
                  </a:lnTo>
                  <a:lnTo>
                    <a:pt x="387096" y="12700"/>
                  </a:lnTo>
                  <a:cubicBezTo>
                    <a:pt x="180340" y="12700"/>
                    <a:pt x="12700" y="180340"/>
                    <a:pt x="12700" y="387096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48441" y="4885658"/>
            <a:ext cx="400793" cy="501101"/>
            <a:chOff x="0" y="0"/>
            <a:chExt cx="534391" cy="6681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4392" cy="668138"/>
            </a:xfrm>
            <a:custGeom>
              <a:avLst/>
              <a:gdLst/>
              <a:ahLst/>
              <a:cxnLst/>
              <a:rect r="r" b="b" t="t" l="l"/>
              <a:pathLst>
                <a:path h="668138" w="534392">
                  <a:moveTo>
                    <a:pt x="0" y="0"/>
                  </a:moveTo>
                  <a:lnTo>
                    <a:pt x="534392" y="0"/>
                  </a:lnTo>
                  <a:lnTo>
                    <a:pt x="534392" y="668138"/>
                  </a:lnTo>
                  <a:lnTo>
                    <a:pt x="0" y="6681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4" t="0" r="-11041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57150"/>
              <a:ext cx="534391" cy="610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5"/>
                </a:lnSpc>
              </a:pPr>
              <a:r>
                <a:rPr lang="en-US" sz="3125" b="true">
                  <a:solidFill>
                    <a:srgbClr val="38465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72417" y="4928292"/>
            <a:ext cx="3340741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transform sur test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72417" y="5517204"/>
            <a:ext cx="7136454" cy="86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On applique les mêmes paramètres (μ, σ du train) sur le test — jamais de refit !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83891" y="8608371"/>
            <a:ext cx="8145809" cy="953986"/>
            <a:chOff x="0" y="0"/>
            <a:chExt cx="10861078" cy="12719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0848340" cy="1259205"/>
            </a:xfrm>
            <a:custGeom>
              <a:avLst/>
              <a:gdLst/>
              <a:ahLst/>
              <a:cxnLst/>
              <a:rect r="r" b="b" t="t" l="l"/>
              <a:pathLst>
                <a:path h="1259205" w="10848340">
                  <a:moveTo>
                    <a:pt x="0" y="507746"/>
                  </a:moveTo>
                  <a:cubicBezTo>
                    <a:pt x="0" y="227330"/>
                    <a:pt x="229362" y="0"/>
                    <a:pt x="512318" y="0"/>
                  </a:cubicBezTo>
                  <a:lnTo>
                    <a:pt x="10336022" y="0"/>
                  </a:lnTo>
                  <a:cubicBezTo>
                    <a:pt x="10618978" y="0"/>
                    <a:pt x="10848340" y="227330"/>
                    <a:pt x="10848340" y="507746"/>
                  </a:cubicBezTo>
                  <a:lnTo>
                    <a:pt x="10848340" y="751459"/>
                  </a:lnTo>
                  <a:cubicBezTo>
                    <a:pt x="10848340" y="1031875"/>
                    <a:pt x="10618978" y="1259205"/>
                    <a:pt x="10336022" y="1259205"/>
                  </a:cubicBezTo>
                  <a:lnTo>
                    <a:pt x="512318" y="1259205"/>
                  </a:lnTo>
                  <a:cubicBezTo>
                    <a:pt x="229362" y="1259332"/>
                    <a:pt x="0" y="1031875"/>
                    <a:pt x="0" y="751459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61040" cy="1271905"/>
            </a:xfrm>
            <a:custGeom>
              <a:avLst/>
              <a:gdLst/>
              <a:ahLst/>
              <a:cxnLst/>
              <a:rect r="r" b="b" t="t" l="l"/>
              <a:pathLst>
                <a:path h="1271905" w="10861040">
                  <a:moveTo>
                    <a:pt x="0" y="514096"/>
                  </a:moveTo>
                  <a:cubicBezTo>
                    <a:pt x="0" y="230124"/>
                    <a:pt x="232283" y="0"/>
                    <a:pt x="518668" y="0"/>
                  </a:cubicBezTo>
                  <a:lnTo>
                    <a:pt x="10342372" y="0"/>
                  </a:lnTo>
                  <a:lnTo>
                    <a:pt x="10342372" y="6350"/>
                  </a:lnTo>
                  <a:lnTo>
                    <a:pt x="10342372" y="0"/>
                  </a:lnTo>
                  <a:cubicBezTo>
                    <a:pt x="10628757" y="0"/>
                    <a:pt x="10861040" y="230124"/>
                    <a:pt x="10861040" y="514096"/>
                  </a:cubicBezTo>
                  <a:lnTo>
                    <a:pt x="10854690" y="514096"/>
                  </a:lnTo>
                  <a:lnTo>
                    <a:pt x="10861040" y="514096"/>
                  </a:lnTo>
                  <a:lnTo>
                    <a:pt x="10861040" y="757809"/>
                  </a:lnTo>
                  <a:lnTo>
                    <a:pt x="10854690" y="757809"/>
                  </a:lnTo>
                  <a:lnTo>
                    <a:pt x="10861040" y="757809"/>
                  </a:lnTo>
                  <a:cubicBezTo>
                    <a:pt x="10861040" y="1041781"/>
                    <a:pt x="10628757" y="1271905"/>
                    <a:pt x="10342372" y="1271905"/>
                  </a:cubicBezTo>
                  <a:lnTo>
                    <a:pt x="10342372" y="1265555"/>
                  </a:lnTo>
                  <a:lnTo>
                    <a:pt x="10342372" y="1271905"/>
                  </a:lnTo>
                  <a:lnTo>
                    <a:pt x="518668" y="1271905"/>
                  </a:lnTo>
                  <a:lnTo>
                    <a:pt x="518668" y="1265555"/>
                  </a:lnTo>
                  <a:lnTo>
                    <a:pt x="518668" y="1271905"/>
                  </a:lnTo>
                  <a:cubicBezTo>
                    <a:pt x="232283" y="1272032"/>
                    <a:pt x="0" y="1041781"/>
                    <a:pt x="0" y="757809"/>
                  </a:cubicBezTo>
                  <a:lnTo>
                    <a:pt x="0" y="514096"/>
                  </a:lnTo>
                  <a:lnTo>
                    <a:pt x="6350" y="514096"/>
                  </a:lnTo>
                  <a:lnTo>
                    <a:pt x="0" y="514096"/>
                  </a:lnTo>
                  <a:moveTo>
                    <a:pt x="12700" y="514096"/>
                  </a:moveTo>
                  <a:lnTo>
                    <a:pt x="12700" y="757809"/>
                  </a:lnTo>
                  <a:lnTo>
                    <a:pt x="6350" y="757809"/>
                  </a:lnTo>
                  <a:lnTo>
                    <a:pt x="12700" y="757809"/>
                  </a:lnTo>
                  <a:cubicBezTo>
                    <a:pt x="12700" y="1034669"/>
                    <a:pt x="239141" y="1259205"/>
                    <a:pt x="518668" y="1259205"/>
                  </a:cubicBezTo>
                  <a:lnTo>
                    <a:pt x="10342372" y="1259205"/>
                  </a:lnTo>
                  <a:cubicBezTo>
                    <a:pt x="10621899" y="1259205"/>
                    <a:pt x="10848340" y="1034669"/>
                    <a:pt x="10848340" y="757809"/>
                  </a:cubicBezTo>
                  <a:lnTo>
                    <a:pt x="10848340" y="514096"/>
                  </a:lnTo>
                  <a:cubicBezTo>
                    <a:pt x="10848340" y="237236"/>
                    <a:pt x="10621899" y="12700"/>
                    <a:pt x="10342372" y="12700"/>
                  </a:cubicBezTo>
                  <a:lnTo>
                    <a:pt x="518668" y="12700"/>
                  </a:lnTo>
                  <a:lnTo>
                    <a:pt x="518668" y="6350"/>
                  </a:lnTo>
                  <a:lnTo>
                    <a:pt x="518668" y="12700"/>
                  </a:lnTo>
                  <a:cubicBezTo>
                    <a:pt x="239141" y="12700"/>
                    <a:pt x="12700" y="237236"/>
                    <a:pt x="12700" y="514096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52077" y="8867032"/>
            <a:ext cx="3340741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Age ∈ [18, 80]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58148" y="8608371"/>
            <a:ext cx="8145961" cy="953986"/>
            <a:chOff x="0" y="0"/>
            <a:chExt cx="10861281" cy="12719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10848594" cy="1259205"/>
            </a:xfrm>
            <a:custGeom>
              <a:avLst/>
              <a:gdLst/>
              <a:ahLst/>
              <a:cxnLst/>
              <a:rect r="r" b="b" t="t" l="l"/>
              <a:pathLst>
                <a:path h="1259205" w="10848594">
                  <a:moveTo>
                    <a:pt x="0" y="507746"/>
                  </a:moveTo>
                  <a:cubicBezTo>
                    <a:pt x="0" y="227330"/>
                    <a:pt x="229362" y="0"/>
                    <a:pt x="512318" y="0"/>
                  </a:cubicBezTo>
                  <a:lnTo>
                    <a:pt x="10336276" y="0"/>
                  </a:lnTo>
                  <a:cubicBezTo>
                    <a:pt x="10619232" y="0"/>
                    <a:pt x="10848594" y="227330"/>
                    <a:pt x="10848594" y="507746"/>
                  </a:cubicBezTo>
                  <a:lnTo>
                    <a:pt x="10848594" y="751459"/>
                  </a:lnTo>
                  <a:cubicBezTo>
                    <a:pt x="10848594" y="1031875"/>
                    <a:pt x="10619232" y="1259205"/>
                    <a:pt x="10336276" y="1259205"/>
                  </a:cubicBezTo>
                  <a:lnTo>
                    <a:pt x="512318" y="1259205"/>
                  </a:lnTo>
                  <a:cubicBezTo>
                    <a:pt x="229362" y="1259332"/>
                    <a:pt x="0" y="1031875"/>
                    <a:pt x="0" y="751459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61294" cy="1271905"/>
            </a:xfrm>
            <a:custGeom>
              <a:avLst/>
              <a:gdLst/>
              <a:ahLst/>
              <a:cxnLst/>
              <a:rect r="r" b="b" t="t" l="l"/>
              <a:pathLst>
                <a:path h="1271905" w="10861294">
                  <a:moveTo>
                    <a:pt x="0" y="514096"/>
                  </a:moveTo>
                  <a:cubicBezTo>
                    <a:pt x="0" y="230124"/>
                    <a:pt x="232283" y="0"/>
                    <a:pt x="518668" y="0"/>
                  </a:cubicBezTo>
                  <a:lnTo>
                    <a:pt x="10342626" y="0"/>
                  </a:lnTo>
                  <a:lnTo>
                    <a:pt x="10342626" y="6350"/>
                  </a:lnTo>
                  <a:lnTo>
                    <a:pt x="10342626" y="0"/>
                  </a:lnTo>
                  <a:cubicBezTo>
                    <a:pt x="10629011" y="0"/>
                    <a:pt x="10861294" y="230124"/>
                    <a:pt x="10861294" y="514096"/>
                  </a:cubicBezTo>
                  <a:lnTo>
                    <a:pt x="10854944" y="514096"/>
                  </a:lnTo>
                  <a:lnTo>
                    <a:pt x="10861294" y="514096"/>
                  </a:lnTo>
                  <a:lnTo>
                    <a:pt x="10861294" y="757809"/>
                  </a:lnTo>
                  <a:lnTo>
                    <a:pt x="10854944" y="757809"/>
                  </a:lnTo>
                  <a:lnTo>
                    <a:pt x="10861294" y="757809"/>
                  </a:lnTo>
                  <a:cubicBezTo>
                    <a:pt x="10861294" y="1041781"/>
                    <a:pt x="10629011" y="1271905"/>
                    <a:pt x="10342626" y="1271905"/>
                  </a:cubicBezTo>
                  <a:lnTo>
                    <a:pt x="10342626" y="1265555"/>
                  </a:lnTo>
                  <a:lnTo>
                    <a:pt x="10342626" y="1271905"/>
                  </a:lnTo>
                  <a:lnTo>
                    <a:pt x="518668" y="1271905"/>
                  </a:lnTo>
                  <a:lnTo>
                    <a:pt x="518668" y="1265555"/>
                  </a:lnTo>
                  <a:lnTo>
                    <a:pt x="518668" y="1271905"/>
                  </a:lnTo>
                  <a:cubicBezTo>
                    <a:pt x="232283" y="1272032"/>
                    <a:pt x="0" y="1041781"/>
                    <a:pt x="0" y="757809"/>
                  </a:cubicBezTo>
                  <a:lnTo>
                    <a:pt x="0" y="514096"/>
                  </a:lnTo>
                  <a:lnTo>
                    <a:pt x="6350" y="514096"/>
                  </a:lnTo>
                  <a:lnTo>
                    <a:pt x="0" y="514096"/>
                  </a:lnTo>
                  <a:moveTo>
                    <a:pt x="12700" y="514096"/>
                  </a:moveTo>
                  <a:lnTo>
                    <a:pt x="12700" y="757809"/>
                  </a:lnTo>
                  <a:lnTo>
                    <a:pt x="6350" y="757809"/>
                  </a:lnTo>
                  <a:lnTo>
                    <a:pt x="12700" y="757809"/>
                  </a:lnTo>
                  <a:cubicBezTo>
                    <a:pt x="12700" y="1034669"/>
                    <a:pt x="239141" y="1259205"/>
                    <a:pt x="518668" y="1259205"/>
                  </a:cubicBezTo>
                  <a:lnTo>
                    <a:pt x="10342626" y="1259205"/>
                  </a:lnTo>
                  <a:cubicBezTo>
                    <a:pt x="10622153" y="1259205"/>
                    <a:pt x="10848594" y="1034669"/>
                    <a:pt x="10848594" y="757809"/>
                  </a:cubicBezTo>
                  <a:lnTo>
                    <a:pt x="10848594" y="514096"/>
                  </a:lnTo>
                  <a:cubicBezTo>
                    <a:pt x="10848594" y="237236"/>
                    <a:pt x="10622153" y="12700"/>
                    <a:pt x="10342626" y="12700"/>
                  </a:cubicBezTo>
                  <a:lnTo>
                    <a:pt x="518668" y="12700"/>
                  </a:lnTo>
                  <a:lnTo>
                    <a:pt x="518668" y="6350"/>
                  </a:lnTo>
                  <a:lnTo>
                    <a:pt x="518668" y="12700"/>
                  </a:lnTo>
                  <a:cubicBezTo>
                    <a:pt x="239141" y="12700"/>
                    <a:pt x="12700" y="237236"/>
                    <a:pt x="12700" y="514096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526343" y="8867032"/>
            <a:ext cx="3425581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Monetary ∈ [0, 10 000]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89622" y="590998"/>
            <a:ext cx="6372816" cy="60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Réduction de Dimension — PCA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9622" y="3502971"/>
            <a:ext cx="2338540" cy="30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Pourquoi la PCA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89622" y="3902126"/>
            <a:ext cx="6237684" cy="725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Redondance entre variables : </a:t>
            </a:r>
            <a:r>
              <a:rPr lang="en-US" sz="137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Frequency </a:t>
            </a:r>
            <a:r>
              <a:rPr lang="en-US" sz="137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↔</a:t>
            </a:r>
            <a:r>
              <a:rPr lang="en-US" sz="137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TotalQuantity</a:t>
            </a: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sont fortement corrélées. La PCA élimine cette redondance tout en conservant l'information.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89622" y="4734516"/>
            <a:ext cx="2398662" cy="30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Étapes mathématiques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89622" y="5133680"/>
            <a:ext cx="6237684" cy="2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Résultat : </a:t>
            </a:r>
            <a:r>
              <a:rPr lang="en-US" sz="137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 colonnes → 7 composantes</a:t>
            </a: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PC1…PC7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89622" y="5445471"/>
            <a:ext cx="6237684" cy="29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Exemple de loading PC1 : 0,40×Recency + 0,38×Frequency + …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70219" y="1536059"/>
            <a:ext cx="6237684" cy="6237684"/>
            <a:chOff x="0" y="0"/>
            <a:chExt cx="8316912" cy="83169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316976" cy="8316976"/>
            </a:xfrm>
            <a:custGeom>
              <a:avLst/>
              <a:gdLst/>
              <a:ahLst/>
              <a:cxnLst/>
              <a:rect r="r" b="b" t="t" l="l"/>
              <a:pathLst>
                <a:path h="8316976" w="8316976">
                  <a:moveTo>
                    <a:pt x="0" y="0"/>
                  </a:moveTo>
                  <a:lnTo>
                    <a:pt x="8316976" y="0"/>
                  </a:lnTo>
                  <a:lnTo>
                    <a:pt x="8316976" y="8316976"/>
                  </a:lnTo>
                  <a:lnTo>
                    <a:pt x="0" y="8316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70219" y="1536059"/>
            <a:ext cx="6237684" cy="6237684"/>
            <a:chOff x="0" y="0"/>
            <a:chExt cx="8316912" cy="83169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8316976" cy="8316976"/>
            </a:xfrm>
            <a:custGeom>
              <a:avLst/>
              <a:gdLst/>
              <a:ahLst/>
              <a:cxnLst/>
              <a:rect r="r" b="b" t="t" l="l"/>
              <a:pathLst>
                <a:path h="8316976" w="8316976">
                  <a:moveTo>
                    <a:pt x="0" y="0"/>
                  </a:moveTo>
                  <a:lnTo>
                    <a:pt x="8316976" y="0"/>
                  </a:lnTo>
                  <a:lnTo>
                    <a:pt x="8316976" y="8316976"/>
                  </a:lnTo>
                  <a:lnTo>
                    <a:pt x="0" y="8316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689622" y="8000552"/>
            <a:ext cx="355397" cy="222047"/>
            <a:chOff x="0" y="0"/>
            <a:chExt cx="473862" cy="2960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3868" cy="296068"/>
            </a:xfrm>
            <a:custGeom>
              <a:avLst/>
              <a:gdLst/>
              <a:ahLst/>
              <a:cxnLst/>
              <a:rect r="r" b="b" t="t" l="l"/>
              <a:pathLst>
                <a:path h="296068" w="473868">
                  <a:moveTo>
                    <a:pt x="0" y="0"/>
                  </a:moveTo>
                  <a:lnTo>
                    <a:pt x="473868" y="0"/>
                  </a:lnTo>
                  <a:lnTo>
                    <a:pt x="473868" y="296068"/>
                  </a:lnTo>
                  <a:lnTo>
                    <a:pt x="0" y="2960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161" t="0" r="-30160" b="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73862" cy="32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2"/>
                </a:lnSpc>
              </a:pPr>
              <a:r>
                <a:rPr lang="en-US" sz="1375">
                  <a:solidFill>
                    <a:srgbClr val="384653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689622" y="8283331"/>
            <a:ext cx="4225233" cy="19050"/>
            <a:chOff x="0" y="0"/>
            <a:chExt cx="5633644" cy="254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633593" cy="25400"/>
            </a:xfrm>
            <a:custGeom>
              <a:avLst/>
              <a:gdLst/>
              <a:ahLst/>
              <a:cxnLst/>
              <a:rect r="r" b="b" t="t" l="l"/>
              <a:pathLst>
                <a:path h="25400" w="5633593">
                  <a:moveTo>
                    <a:pt x="0" y="0"/>
                  </a:moveTo>
                  <a:lnTo>
                    <a:pt x="5633593" y="0"/>
                  </a:lnTo>
                  <a:lnTo>
                    <a:pt x="5633593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5" t="0" r="-46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689622" y="8391230"/>
            <a:ext cx="4225233" cy="2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Matrice de corrélation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031384" y="8000552"/>
            <a:ext cx="355397" cy="222047"/>
            <a:chOff x="0" y="0"/>
            <a:chExt cx="473862" cy="2960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3868" cy="296068"/>
            </a:xfrm>
            <a:custGeom>
              <a:avLst/>
              <a:gdLst/>
              <a:ahLst/>
              <a:cxnLst/>
              <a:rect r="r" b="b" t="t" l="l"/>
              <a:pathLst>
                <a:path h="296068" w="473868">
                  <a:moveTo>
                    <a:pt x="0" y="0"/>
                  </a:moveTo>
                  <a:lnTo>
                    <a:pt x="473868" y="0"/>
                  </a:lnTo>
                  <a:lnTo>
                    <a:pt x="473868" y="296068"/>
                  </a:lnTo>
                  <a:lnTo>
                    <a:pt x="0" y="2960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161" t="0" r="-30160" b="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73862" cy="32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2"/>
                </a:lnSpc>
              </a:pPr>
              <a:r>
                <a:rPr lang="en-US" sz="1375">
                  <a:solidFill>
                    <a:srgbClr val="384653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31384" y="8283331"/>
            <a:ext cx="4225233" cy="19050"/>
            <a:chOff x="0" y="0"/>
            <a:chExt cx="5633644" cy="254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633593" cy="25400"/>
            </a:xfrm>
            <a:custGeom>
              <a:avLst/>
              <a:gdLst/>
              <a:ahLst/>
              <a:cxnLst/>
              <a:rect r="r" b="b" t="t" l="l"/>
              <a:pathLst>
                <a:path h="25400" w="5633593">
                  <a:moveTo>
                    <a:pt x="0" y="0"/>
                  </a:moveTo>
                  <a:lnTo>
                    <a:pt x="5633593" y="0"/>
                  </a:lnTo>
                  <a:lnTo>
                    <a:pt x="5633593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5" t="0" r="-46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031384" y="8391230"/>
            <a:ext cx="4225233" cy="2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Valeurs propres λ et vecteurs propres v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373145" y="8000552"/>
            <a:ext cx="355397" cy="222047"/>
            <a:chOff x="0" y="0"/>
            <a:chExt cx="473862" cy="2960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3868" cy="296068"/>
            </a:xfrm>
            <a:custGeom>
              <a:avLst/>
              <a:gdLst/>
              <a:ahLst/>
              <a:cxnLst/>
              <a:rect r="r" b="b" t="t" l="l"/>
              <a:pathLst>
                <a:path h="296068" w="473868">
                  <a:moveTo>
                    <a:pt x="0" y="0"/>
                  </a:moveTo>
                  <a:lnTo>
                    <a:pt x="473868" y="0"/>
                  </a:lnTo>
                  <a:lnTo>
                    <a:pt x="473868" y="296068"/>
                  </a:lnTo>
                  <a:lnTo>
                    <a:pt x="0" y="2960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161" t="0" r="-30160" b="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473862" cy="32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2"/>
                </a:lnSpc>
              </a:pPr>
              <a:r>
                <a:rPr lang="en-US" sz="1375">
                  <a:solidFill>
                    <a:srgbClr val="384653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03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73145" y="8283331"/>
            <a:ext cx="4225233" cy="19050"/>
            <a:chOff x="0" y="0"/>
            <a:chExt cx="5633644" cy="254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633593" cy="25400"/>
            </a:xfrm>
            <a:custGeom>
              <a:avLst/>
              <a:gdLst/>
              <a:ahLst/>
              <a:cxnLst/>
              <a:rect r="r" b="b" t="t" l="l"/>
              <a:pathLst>
                <a:path h="25400" w="5633593">
                  <a:moveTo>
                    <a:pt x="0" y="0"/>
                  </a:moveTo>
                  <a:lnTo>
                    <a:pt x="5633593" y="0"/>
                  </a:lnTo>
                  <a:lnTo>
                    <a:pt x="5633593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5" t="0" r="-46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373145" y="8391230"/>
            <a:ext cx="4225233" cy="25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Équation : </a:t>
            </a:r>
            <a:r>
              <a:rPr lang="en-US" sz="1375" i="true">
                <a:solidFill>
                  <a:srgbClr val="384653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 \times v = \lambda \times v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689622" y="8896941"/>
            <a:ext cx="355397" cy="222047"/>
            <a:chOff x="0" y="0"/>
            <a:chExt cx="473862" cy="2960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3868" cy="296068"/>
            </a:xfrm>
            <a:custGeom>
              <a:avLst/>
              <a:gdLst/>
              <a:ahLst/>
              <a:cxnLst/>
              <a:rect r="r" b="b" t="t" l="l"/>
              <a:pathLst>
                <a:path h="296068" w="473868">
                  <a:moveTo>
                    <a:pt x="0" y="0"/>
                  </a:moveTo>
                  <a:lnTo>
                    <a:pt x="473868" y="0"/>
                  </a:lnTo>
                  <a:lnTo>
                    <a:pt x="473868" y="296068"/>
                  </a:lnTo>
                  <a:lnTo>
                    <a:pt x="0" y="2960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161" t="0" r="-30160" b="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73862" cy="32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2"/>
                </a:lnSpc>
              </a:pPr>
              <a:r>
                <a:rPr lang="en-US" sz="1375">
                  <a:solidFill>
                    <a:srgbClr val="384653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689622" y="9162012"/>
            <a:ext cx="6396038" cy="19050"/>
            <a:chOff x="0" y="0"/>
            <a:chExt cx="8528050" cy="254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8528050" cy="25400"/>
            </a:xfrm>
            <a:custGeom>
              <a:avLst/>
              <a:gdLst/>
              <a:ahLst/>
              <a:cxnLst/>
              <a:rect r="r" b="b" t="t" l="l"/>
              <a:pathLst>
                <a:path h="25400" w="8528050">
                  <a:moveTo>
                    <a:pt x="0" y="0"/>
                  </a:moveTo>
                  <a:lnTo>
                    <a:pt x="8528050" y="0"/>
                  </a:lnTo>
                  <a:lnTo>
                    <a:pt x="852805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7" t="0" r="-37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2689622" y="9287618"/>
            <a:ext cx="6396038" cy="25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% information = </a:t>
            </a:r>
            <a:r>
              <a:rPr lang="en-US" sz="1375" i="true">
                <a:solidFill>
                  <a:srgbClr val="384653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\lambda_i / \Sigma\lambda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02188" y="8896941"/>
            <a:ext cx="355397" cy="222047"/>
            <a:chOff x="0" y="0"/>
            <a:chExt cx="473862" cy="29606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3868" cy="296068"/>
            </a:xfrm>
            <a:custGeom>
              <a:avLst/>
              <a:gdLst/>
              <a:ahLst/>
              <a:cxnLst/>
              <a:rect r="r" b="b" t="t" l="l"/>
              <a:pathLst>
                <a:path h="296068" w="473868">
                  <a:moveTo>
                    <a:pt x="0" y="0"/>
                  </a:moveTo>
                  <a:lnTo>
                    <a:pt x="473868" y="0"/>
                  </a:lnTo>
                  <a:lnTo>
                    <a:pt x="473868" y="296068"/>
                  </a:lnTo>
                  <a:lnTo>
                    <a:pt x="0" y="2960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161" t="0" r="-30160" b="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473862" cy="32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2"/>
                </a:lnSpc>
              </a:pPr>
              <a:r>
                <a:rPr lang="en-US" sz="1375">
                  <a:solidFill>
                    <a:srgbClr val="384653"/>
                  </a:solidFill>
                  <a:latin typeface="Barlow Light"/>
                  <a:ea typeface="Barlow Light"/>
                  <a:cs typeface="Barlow Light"/>
                  <a:sym typeface="Barlow Light"/>
                </a:rPr>
                <a:t>05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02188" y="9162755"/>
            <a:ext cx="6396190" cy="19050"/>
            <a:chOff x="0" y="0"/>
            <a:chExt cx="8528253" cy="2540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8528304" cy="25400"/>
            </a:xfrm>
            <a:custGeom>
              <a:avLst/>
              <a:gdLst/>
              <a:ahLst/>
              <a:cxnLst/>
              <a:rect r="r" b="b" t="t" l="l"/>
              <a:pathLst>
                <a:path h="25400" w="8528304">
                  <a:moveTo>
                    <a:pt x="0" y="0"/>
                  </a:moveTo>
                  <a:lnTo>
                    <a:pt x="8528304" y="0"/>
                  </a:lnTo>
                  <a:lnTo>
                    <a:pt x="8528304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6" t="0" r="-35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202188" y="9287618"/>
            <a:ext cx="6396190" cy="2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Garder jusqu'à </a:t>
            </a:r>
            <a:r>
              <a:rPr lang="en-US" sz="137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95%</a:t>
            </a:r>
            <a:r>
              <a:rPr lang="en-US" sz="13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d'information cumulée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10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4540" y="691153"/>
            <a:ext cx="7799937" cy="79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Détail des Composantes PCA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540" y="1956349"/>
            <a:ext cx="4845396" cy="41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Variance expliquée par composante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09777" y="2587828"/>
            <a:ext cx="949823" cy="215208"/>
            <a:chOff x="0" y="0"/>
            <a:chExt cx="1266431" cy="2869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253744" cy="274320"/>
            </a:xfrm>
            <a:custGeom>
              <a:avLst/>
              <a:gdLst/>
              <a:ahLst/>
              <a:cxnLst/>
              <a:rect r="r" b="b" t="t" l="l"/>
              <a:pathLst>
                <a:path h="274320" w="1253744">
                  <a:moveTo>
                    <a:pt x="0" y="137160"/>
                  </a:moveTo>
                  <a:cubicBezTo>
                    <a:pt x="0" y="61341"/>
                    <a:pt x="63627" y="0"/>
                    <a:pt x="141986" y="0"/>
                  </a:cubicBezTo>
                  <a:lnTo>
                    <a:pt x="1111758" y="0"/>
                  </a:lnTo>
                  <a:cubicBezTo>
                    <a:pt x="1190244" y="0"/>
                    <a:pt x="1253744" y="61341"/>
                    <a:pt x="1253744" y="137160"/>
                  </a:cubicBezTo>
                  <a:cubicBezTo>
                    <a:pt x="1253744" y="212979"/>
                    <a:pt x="1190117" y="274320"/>
                    <a:pt x="1111758" y="274320"/>
                  </a:cubicBezTo>
                  <a:lnTo>
                    <a:pt x="141986" y="274320"/>
                  </a:lnTo>
                  <a:cubicBezTo>
                    <a:pt x="63627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6444" cy="287020"/>
            </a:xfrm>
            <a:custGeom>
              <a:avLst/>
              <a:gdLst/>
              <a:ahLst/>
              <a:cxnLst/>
              <a:rect r="r" b="b" t="t" l="l"/>
              <a:pathLst>
                <a:path h="287020" w="1266444">
                  <a:moveTo>
                    <a:pt x="0" y="143510"/>
                  </a:moveTo>
                  <a:cubicBezTo>
                    <a:pt x="0" y="64008"/>
                    <a:pt x="66675" y="0"/>
                    <a:pt x="148336" y="0"/>
                  </a:cubicBezTo>
                  <a:lnTo>
                    <a:pt x="1118108" y="0"/>
                  </a:lnTo>
                  <a:lnTo>
                    <a:pt x="1118108" y="6350"/>
                  </a:lnTo>
                  <a:lnTo>
                    <a:pt x="1118108" y="0"/>
                  </a:lnTo>
                  <a:cubicBezTo>
                    <a:pt x="1199896" y="0"/>
                    <a:pt x="1266444" y="64008"/>
                    <a:pt x="1266444" y="143510"/>
                  </a:cubicBezTo>
                  <a:lnTo>
                    <a:pt x="1260094" y="143510"/>
                  </a:lnTo>
                  <a:lnTo>
                    <a:pt x="1266444" y="143510"/>
                  </a:lnTo>
                  <a:lnTo>
                    <a:pt x="1260094" y="143510"/>
                  </a:lnTo>
                  <a:lnTo>
                    <a:pt x="1266444" y="143510"/>
                  </a:lnTo>
                  <a:cubicBezTo>
                    <a:pt x="1266444" y="223012"/>
                    <a:pt x="1199769" y="287020"/>
                    <a:pt x="1118108" y="287020"/>
                  </a:cubicBezTo>
                  <a:lnTo>
                    <a:pt x="1118108" y="280670"/>
                  </a:lnTo>
                  <a:lnTo>
                    <a:pt x="1118108" y="287020"/>
                  </a:lnTo>
                  <a:lnTo>
                    <a:pt x="148336" y="287020"/>
                  </a:lnTo>
                  <a:lnTo>
                    <a:pt x="148336" y="280670"/>
                  </a:lnTo>
                  <a:lnTo>
                    <a:pt x="148336" y="287020"/>
                  </a:lnTo>
                  <a:cubicBezTo>
                    <a:pt x="66675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279" y="274320"/>
                    <a:pt x="148336" y="274320"/>
                  </a:cubicBezTo>
                  <a:lnTo>
                    <a:pt x="1118108" y="274320"/>
                  </a:lnTo>
                  <a:cubicBezTo>
                    <a:pt x="1193292" y="274320"/>
                    <a:pt x="1253744" y="215519"/>
                    <a:pt x="1253744" y="143510"/>
                  </a:cubicBezTo>
                  <a:cubicBezTo>
                    <a:pt x="1253744" y="71501"/>
                    <a:pt x="1193165" y="12700"/>
                    <a:pt x="1118108" y="12700"/>
                  </a:cubicBezTo>
                  <a:lnTo>
                    <a:pt x="148336" y="12700"/>
                  </a:lnTo>
                  <a:lnTo>
                    <a:pt x="148336" y="6350"/>
                  </a:lnTo>
                  <a:lnTo>
                    <a:pt x="148336" y="12700"/>
                  </a:lnTo>
                  <a:cubicBezTo>
                    <a:pt x="73279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1215" y="2638273"/>
            <a:ext cx="114300" cy="114300"/>
            <a:chOff x="0" y="0"/>
            <a:chExt cx="152400" cy="1524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33615" y="2592591"/>
            <a:ext cx="654548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Variance (%)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826266" y="2587828"/>
            <a:ext cx="838495" cy="215208"/>
            <a:chOff x="0" y="0"/>
            <a:chExt cx="1117994" cy="2869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1105281" cy="274320"/>
            </a:xfrm>
            <a:custGeom>
              <a:avLst/>
              <a:gdLst/>
              <a:ahLst/>
              <a:cxnLst/>
              <a:rect r="r" b="b" t="t" l="l"/>
              <a:pathLst>
                <a:path h="274320" w="1105281">
                  <a:moveTo>
                    <a:pt x="0" y="137160"/>
                  </a:moveTo>
                  <a:cubicBezTo>
                    <a:pt x="0" y="61341"/>
                    <a:pt x="63500" y="0"/>
                    <a:pt x="141859" y="0"/>
                  </a:cubicBezTo>
                  <a:lnTo>
                    <a:pt x="963422" y="0"/>
                  </a:lnTo>
                  <a:cubicBezTo>
                    <a:pt x="1041781" y="0"/>
                    <a:pt x="1105281" y="61341"/>
                    <a:pt x="1105281" y="137160"/>
                  </a:cubicBezTo>
                  <a:cubicBezTo>
                    <a:pt x="1105281" y="212979"/>
                    <a:pt x="1041781" y="274320"/>
                    <a:pt x="963422" y="274320"/>
                  </a:cubicBezTo>
                  <a:lnTo>
                    <a:pt x="141859" y="274320"/>
                  </a:lnTo>
                  <a:cubicBezTo>
                    <a:pt x="63500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7981" cy="287020"/>
            </a:xfrm>
            <a:custGeom>
              <a:avLst/>
              <a:gdLst/>
              <a:ahLst/>
              <a:cxnLst/>
              <a:rect r="r" b="b" t="t" l="l"/>
              <a:pathLst>
                <a:path h="287020" w="1117981">
                  <a:moveTo>
                    <a:pt x="0" y="143510"/>
                  </a:moveTo>
                  <a:cubicBezTo>
                    <a:pt x="0" y="64008"/>
                    <a:pt x="66548" y="0"/>
                    <a:pt x="148209" y="0"/>
                  </a:cubicBezTo>
                  <a:lnTo>
                    <a:pt x="969772" y="0"/>
                  </a:lnTo>
                  <a:lnTo>
                    <a:pt x="969772" y="6350"/>
                  </a:lnTo>
                  <a:lnTo>
                    <a:pt x="969772" y="0"/>
                  </a:lnTo>
                  <a:cubicBezTo>
                    <a:pt x="1051433" y="0"/>
                    <a:pt x="1117981" y="64008"/>
                    <a:pt x="1117981" y="143510"/>
                  </a:cubicBezTo>
                  <a:lnTo>
                    <a:pt x="1111631" y="143510"/>
                  </a:lnTo>
                  <a:lnTo>
                    <a:pt x="1117981" y="143510"/>
                  </a:lnTo>
                  <a:lnTo>
                    <a:pt x="1111631" y="143510"/>
                  </a:lnTo>
                  <a:lnTo>
                    <a:pt x="1117981" y="143510"/>
                  </a:lnTo>
                  <a:cubicBezTo>
                    <a:pt x="1117981" y="222885"/>
                    <a:pt x="1051433" y="287020"/>
                    <a:pt x="969772" y="287020"/>
                  </a:cubicBezTo>
                  <a:lnTo>
                    <a:pt x="969772" y="280670"/>
                  </a:lnTo>
                  <a:lnTo>
                    <a:pt x="969772" y="287020"/>
                  </a:lnTo>
                  <a:lnTo>
                    <a:pt x="148209" y="287020"/>
                  </a:lnTo>
                  <a:lnTo>
                    <a:pt x="148209" y="280670"/>
                  </a:lnTo>
                  <a:lnTo>
                    <a:pt x="148209" y="287020"/>
                  </a:lnTo>
                  <a:cubicBezTo>
                    <a:pt x="66548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152" y="274320"/>
                    <a:pt x="148209" y="274320"/>
                  </a:cubicBezTo>
                  <a:lnTo>
                    <a:pt x="969772" y="274320"/>
                  </a:lnTo>
                  <a:cubicBezTo>
                    <a:pt x="1044829" y="274320"/>
                    <a:pt x="1105281" y="215519"/>
                    <a:pt x="1105281" y="143510"/>
                  </a:cubicBezTo>
                  <a:cubicBezTo>
                    <a:pt x="1105281" y="71501"/>
                    <a:pt x="1044829" y="12700"/>
                    <a:pt x="969772" y="12700"/>
                  </a:cubicBezTo>
                  <a:lnTo>
                    <a:pt x="148209" y="12700"/>
                  </a:lnTo>
                  <a:lnTo>
                    <a:pt x="148209" y="6350"/>
                  </a:lnTo>
                  <a:lnTo>
                    <a:pt x="148209" y="12700"/>
                  </a:lnTo>
                  <a:cubicBezTo>
                    <a:pt x="73152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97704" y="2638273"/>
            <a:ext cx="114300" cy="114300"/>
            <a:chOff x="0" y="0"/>
            <a:chExt cx="152400" cy="1524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0104" y="2592591"/>
            <a:ext cx="543220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Cumul (%)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4540" y="2893514"/>
            <a:ext cx="8045653" cy="3503857"/>
            <a:chOff x="0" y="0"/>
            <a:chExt cx="10727538" cy="4671809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727563" cy="4671822"/>
            </a:xfrm>
            <a:custGeom>
              <a:avLst/>
              <a:gdLst/>
              <a:ahLst/>
              <a:cxnLst/>
              <a:rect r="r" b="b" t="t" l="l"/>
              <a:pathLst>
                <a:path h="4671822" w="10727563">
                  <a:moveTo>
                    <a:pt x="0" y="0"/>
                  </a:moveTo>
                  <a:lnTo>
                    <a:pt x="10727563" y="0"/>
                  </a:lnTo>
                  <a:lnTo>
                    <a:pt x="10727563" y="4671822"/>
                  </a:lnTo>
                  <a:lnTo>
                    <a:pt x="0" y="467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2674" y="4939960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35595" y="4939960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99402" y="5355727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32332" y="4385605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96139" y="5494315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29060" y="3969839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92876" y="5632904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25797" y="3692662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80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19607" y="5670623"/>
            <a:ext cx="56169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22534" y="3470920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88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16335" y="5514318"/>
            <a:ext cx="56169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19271" y="3332331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13072" y="5597471"/>
            <a:ext cx="56169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16008" y="3276895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95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14540" y="7322934"/>
            <a:ext cx="8045653" cy="1255957"/>
            <a:chOff x="0" y="0"/>
            <a:chExt cx="10727538" cy="16746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27437" cy="1674622"/>
            </a:xfrm>
            <a:custGeom>
              <a:avLst/>
              <a:gdLst/>
              <a:ahLst/>
              <a:cxnLst/>
              <a:rect r="r" b="b" t="t" l="l"/>
              <a:pathLst>
                <a:path h="1674622" w="10727437">
                  <a:moveTo>
                    <a:pt x="0" y="465455"/>
                  </a:moveTo>
                  <a:cubicBezTo>
                    <a:pt x="0" y="208407"/>
                    <a:pt x="208407" y="0"/>
                    <a:pt x="465455" y="0"/>
                  </a:cubicBezTo>
                  <a:lnTo>
                    <a:pt x="10261981" y="0"/>
                  </a:lnTo>
                  <a:cubicBezTo>
                    <a:pt x="10519029" y="0"/>
                    <a:pt x="10727437" y="208407"/>
                    <a:pt x="10727437" y="465455"/>
                  </a:cubicBezTo>
                  <a:lnTo>
                    <a:pt x="10727437" y="1209167"/>
                  </a:lnTo>
                  <a:cubicBezTo>
                    <a:pt x="10727437" y="1466215"/>
                    <a:pt x="10519029" y="1674622"/>
                    <a:pt x="10261981" y="1674622"/>
                  </a:cubicBezTo>
                  <a:lnTo>
                    <a:pt x="465455" y="1674622"/>
                  </a:lnTo>
                  <a:cubicBezTo>
                    <a:pt x="208407" y="1674622"/>
                    <a:pt x="0" y="1466215"/>
                    <a:pt x="0" y="1209167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47159" y="7667177"/>
            <a:ext cx="290808" cy="232620"/>
            <a:chOff x="0" y="0"/>
            <a:chExt cx="387744" cy="310159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387731" cy="310134"/>
            </a:xfrm>
            <a:custGeom>
              <a:avLst/>
              <a:gdLst/>
              <a:ahLst/>
              <a:cxnLst/>
              <a:rect r="r" b="b" t="t" l="l"/>
              <a:pathLst>
                <a:path h="310134" w="387731">
                  <a:moveTo>
                    <a:pt x="0" y="0"/>
                  </a:moveTo>
                  <a:lnTo>
                    <a:pt x="387731" y="0"/>
                  </a:lnTo>
                  <a:lnTo>
                    <a:pt x="38773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660" t="0" r="-1663" b="-8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570587" y="7533237"/>
            <a:ext cx="7056987" cy="74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✅ Objectif atteint : </a:t>
            </a:r>
            <a:r>
              <a:rPr lang="en-US" sz="181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95% d'information</a:t>
            </a:r>
            <a:r>
              <a:rPr lang="en-US" sz="18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conservée avec seulement 7 composantes au lieu de 10 variables.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37341" y="1956349"/>
            <a:ext cx="5813669" cy="41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Interprétation des premières composantes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423054" y="2578303"/>
            <a:ext cx="8074228" cy="2145211"/>
            <a:chOff x="0" y="0"/>
            <a:chExt cx="10765638" cy="286028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9050" y="19050"/>
              <a:ext cx="10727563" cy="2822194"/>
            </a:xfrm>
            <a:custGeom>
              <a:avLst/>
              <a:gdLst/>
              <a:ahLst/>
              <a:cxnLst/>
              <a:rect r="r" b="b" t="t" l="l"/>
              <a:pathLst>
                <a:path h="2822194" w="10727563">
                  <a:moveTo>
                    <a:pt x="0" y="465455"/>
                  </a:moveTo>
                  <a:cubicBezTo>
                    <a:pt x="0" y="208407"/>
                    <a:pt x="210439" y="0"/>
                    <a:pt x="470154" y="0"/>
                  </a:cubicBezTo>
                  <a:lnTo>
                    <a:pt x="10257409" y="0"/>
                  </a:lnTo>
                  <a:cubicBezTo>
                    <a:pt x="10516997" y="0"/>
                    <a:pt x="10727563" y="208407"/>
                    <a:pt x="10727563" y="465455"/>
                  </a:cubicBezTo>
                  <a:lnTo>
                    <a:pt x="10727563" y="2356739"/>
                  </a:lnTo>
                  <a:cubicBezTo>
                    <a:pt x="10727563" y="2613787"/>
                    <a:pt x="10517124" y="2822194"/>
                    <a:pt x="10257409" y="2822194"/>
                  </a:cubicBezTo>
                  <a:lnTo>
                    <a:pt x="470154" y="2822194"/>
                  </a:lnTo>
                  <a:cubicBezTo>
                    <a:pt x="210566" y="2822194"/>
                    <a:pt x="0" y="2613787"/>
                    <a:pt x="0" y="23567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65663" cy="2860294"/>
            </a:xfrm>
            <a:custGeom>
              <a:avLst/>
              <a:gdLst/>
              <a:ahLst/>
              <a:cxnLst/>
              <a:rect r="r" b="b" t="t" l="l"/>
              <a:pathLst>
                <a:path h="2860294" w="10765663">
                  <a:moveTo>
                    <a:pt x="0" y="484505"/>
                  </a:moveTo>
                  <a:cubicBezTo>
                    <a:pt x="0" y="216789"/>
                    <a:pt x="219202" y="0"/>
                    <a:pt x="489204" y="0"/>
                  </a:cubicBezTo>
                  <a:lnTo>
                    <a:pt x="10276459" y="0"/>
                  </a:lnTo>
                  <a:lnTo>
                    <a:pt x="10276459" y="19050"/>
                  </a:lnTo>
                  <a:lnTo>
                    <a:pt x="10276459" y="0"/>
                  </a:lnTo>
                  <a:cubicBezTo>
                    <a:pt x="10546461" y="0"/>
                    <a:pt x="10765663" y="216789"/>
                    <a:pt x="10765663" y="484505"/>
                  </a:cubicBezTo>
                  <a:lnTo>
                    <a:pt x="10746613" y="484505"/>
                  </a:lnTo>
                  <a:lnTo>
                    <a:pt x="10765663" y="484505"/>
                  </a:lnTo>
                  <a:lnTo>
                    <a:pt x="10765663" y="2375789"/>
                  </a:lnTo>
                  <a:lnTo>
                    <a:pt x="10746613" y="2375789"/>
                  </a:lnTo>
                  <a:lnTo>
                    <a:pt x="10765663" y="2375789"/>
                  </a:lnTo>
                  <a:cubicBezTo>
                    <a:pt x="10765663" y="2643632"/>
                    <a:pt x="10546461" y="2860294"/>
                    <a:pt x="10276459" y="2860294"/>
                  </a:cubicBezTo>
                  <a:lnTo>
                    <a:pt x="10276459" y="2841244"/>
                  </a:lnTo>
                  <a:lnTo>
                    <a:pt x="10276459" y="2860294"/>
                  </a:lnTo>
                  <a:lnTo>
                    <a:pt x="489204" y="2860294"/>
                  </a:lnTo>
                  <a:lnTo>
                    <a:pt x="489204" y="2841244"/>
                  </a:lnTo>
                  <a:lnTo>
                    <a:pt x="489204" y="2860294"/>
                  </a:lnTo>
                  <a:cubicBezTo>
                    <a:pt x="219202" y="2860294"/>
                    <a:pt x="0" y="2643505"/>
                    <a:pt x="0" y="2375789"/>
                  </a:cubicBezTo>
                  <a:lnTo>
                    <a:pt x="0" y="484505"/>
                  </a:lnTo>
                  <a:lnTo>
                    <a:pt x="19050" y="484505"/>
                  </a:lnTo>
                  <a:lnTo>
                    <a:pt x="0" y="484505"/>
                  </a:lnTo>
                  <a:moveTo>
                    <a:pt x="38100" y="484505"/>
                  </a:moveTo>
                  <a:lnTo>
                    <a:pt x="38100" y="2375789"/>
                  </a:lnTo>
                  <a:lnTo>
                    <a:pt x="19050" y="2375789"/>
                  </a:lnTo>
                  <a:lnTo>
                    <a:pt x="38100" y="2375789"/>
                  </a:lnTo>
                  <a:cubicBezTo>
                    <a:pt x="38100" y="2622169"/>
                    <a:pt x="239903" y="2822194"/>
                    <a:pt x="489204" y="2822194"/>
                  </a:cubicBezTo>
                  <a:lnTo>
                    <a:pt x="10276459" y="2822194"/>
                  </a:lnTo>
                  <a:cubicBezTo>
                    <a:pt x="10525760" y="2822194"/>
                    <a:pt x="10727563" y="2622169"/>
                    <a:pt x="10727563" y="2375789"/>
                  </a:cubicBezTo>
                  <a:lnTo>
                    <a:pt x="10727563" y="484505"/>
                  </a:lnTo>
                  <a:cubicBezTo>
                    <a:pt x="10727563" y="238125"/>
                    <a:pt x="10525760" y="38100"/>
                    <a:pt x="10276459" y="38100"/>
                  </a:cubicBezTo>
                  <a:lnTo>
                    <a:pt x="489204" y="38100"/>
                  </a:lnTo>
                  <a:lnTo>
                    <a:pt x="489204" y="19050"/>
                  </a:lnTo>
                  <a:lnTo>
                    <a:pt x="489204" y="38100"/>
                  </a:lnTo>
                  <a:cubicBezTo>
                    <a:pt x="239903" y="38100"/>
                    <a:pt x="38100" y="238125"/>
                    <a:pt x="38100" y="4845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465916" y="2621166"/>
            <a:ext cx="7988503" cy="698154"/>
            <a:chOff x="0" y="0"/>
            <a:chExt cx="10651338" cy="9308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51363" cy="930783"/>
            </a:xfrm>
            <a:custGeom>
              <a:avLst/>
              <a:gdLst/>
              <a:ahLst/>
              <a:cxnLst/>
              <a:rect r="r" b="b" t="t" l="l"/>
              <a:pathLst>
                <a:path h="930783" w="10651363">
                  <a:moveTo>
                    <a:pt x="0" y="419735"/>
                  </a:moveTo>
                  <a:cubicBezTo>
                    <a:pt x="0" y="187960"/>
                    <a:pt x="187960" y="0"/>
                    <a:pt x="419735" y="0"/>
                  </a:cubicBezTo>
                  <a:lnTo>
                    <a:pt x="10231628" y="0"/>
                  </a:lnTo>
                  <a:cubicBezTo>
                    <a:pt x="10463403" y="0"/>
                    <a:pt x="10651363" y="187960"/>
                    <a:pt x="10651363" y="419735"/>
                  </a:cubicBezTo>
                  <a:lnTo>
                    <a:pt x="10651363" y="511048"/>
                  </a:lnTo>
                  <a:cubicBezTo>
                    <a:pt x="10651363" y="742823"/>
                    <a:pt x="10463403" y="930783"/>
                    <a:pt x="10231628" y="930783"/>
                  </a:cubicBezTo>
                  <a:lnTo>
                    <a:pt x="419735" y="930783"/>
                  </a:lnTo>
                  <a:cubicBezTo>
                    <a:pt x="187960" y="930910"/>
                    <a:pt x="0" y="742950"/>
                    <a:pt x="0" y="511048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285584" y="2747220"/>
            <a:ext cx="349006" cy="436359"/>
            <a:chOff x="0" y="0"/>
            <a:chExt cx="465341" cy="5818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5337" cy="581818"/>
            </a:xfrm>
            <a:custGeom>
              <a:avLst/>
              <a:gdLst/>
              <a:ahLst/>
              <a:cxnLst/>
              <a:rect r="r" b="b" t="t" l="l"/>
              <a:pathLst>
                <a:path h="581818" w="465337">
                  <a:moveTo>
                    <a:pt x="0" y="0"/>
                  </a:moveTo>
                  <a:lnTo>
                    <a:pt x="465337" y="0"/>
                  </a:lnTo>
                  <a:lnTo>
                    <a:pt x="465337" y="581818"/>
                  </a:lnTo>
                  <a:lnTo>
                    <a:pt x="0" y="5818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0418" t="0" r="-110418" b="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47625"/>
              <a:ext cx="465341" cy="534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87"/>
                </a:lnSpc>
              </a:pPr>
              <a:r>
                <a:rPr lang="en-US" sz="2687" b="true">
                  <a:solidFill>
                    <a:srgbClr val="38465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698536" y="3490617"/>
            <a:ext cx="3062288" cy="41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PC1 — 35%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698536" y="4054231"/>
            <a:ext cx="7523264" cy="3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Activité globale d'achat : Recency, Frequency, MonetaryTotal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423054" y="4894812"/>
            <a:ext cx="8074228" cy="2145211"/>
            <a:chOff x="0" y="0"/>
            <a:chExt cx="10765638" cy="286028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9050" y="19050"/>
              <a:ext cx="10727563" cy="2822194"/>
            </a:xfrm>
            <a:custGeom>
              <a:avLst/>
              <a:gdLst/>
              <a:ahLst/>
              <a:cxnLst/>
              <a:rect r="r" b="b" t="t" l="l"/>
              <a:pathLst>
                <a:path h="2822194" w="10727563">
                  <a:moveTo>
                    <a:pt x="0" y="465455"/>
                  </a:moveTo>
                  <a:cubicBezTo>
                    <a:pt x="0" y="208407"/>
                    <a:pt x="210439" y="0"/>
                    <a:pt x="470154" y="0"/>
                  </a:cubicBezTo>
                  <a:lnTo>
                    <a:pt x="10257409" y="0"/>
                  </a:lnTo>
                  <a:cubicBezTo>
                    <a:pt x="10516997" y="0"/>
                    <a:pt x="10727563" y="208407"/>
                    <a:pt x="10727563" y="465455"/>
                  </a:cubicBezTo>
                  <a:lnTo>
                    <a:pt x="10727563" y="2356739"/>
                  </a:lnTo>
                  <a:cubicBezTo>
                    <a:pt x="10727563" y="2613787"/>
                    <a:pt x="10517124" y="2822194"/>
                    <a:pt x="10257409" y="2822194"/>
                  </a:cubicBezTo>
                  <a:lnTo>
                    <a:pt x="470154" y="2822194"/>
                  </a:lnTo>
                  <a:cubicBezTo>
                    <a:pt x="210566" y="2822194"/>
                    <a:pt x="0" y="2613787"/>
                    <a:pt x="0" y="23567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65663" cy="2860294"/>
            </a:xfrm>
            <a:custGeom>
              <a:avLst/>
              <a:gdLst/>
              <a:ahLst/>
              <a:cxnLst/>
              <a:rect r="r" b="b" t="t" l="l"/>
              <a:pathLst>
                <a:path h="2860294" w="10765663">
                  <a:moveTo>
                    <a:pt x="0" y="484505"/>
                  </a:moveTo>
                  <a:cubicBezTo>
                    <a:pt x="0" y="216789"/>
                    <a:pt x="219202" y="0"/>
                    <a:pt x="489204" y="0"/>
                  </a:cubicBezTo>
                  <a:lnTo>
                    <a:pt x="10276459" y="0"/>
                  </a:lnTo>
                  <a:lnTo>
                    <a:pt x="10276459" y="19050"/>
                  </a:lnTo>
                  <a:lnTo>
                    <a:pt x="10276459" y="0"/>
                  </a:lnTo>
                  <a:cubicBezTo>
                    <a:pt x="10546461" y="0"/>
                    <a:pt x="10765663" y="216789"/>
                    <a:pt x="10765663" y="484505"/>
                  </a:cubicBezTo>
                  <a:lnTo>
                    <a:pt x="10746613" y="484505"/>
                  </a:lnTo>
                  <a:lnTo>
                    <a:pt x="10765663" y="484505"/>
                  </a:lnTo>
                  <a:lnTo>
                    <a:pt x="10765663" y="2375789"/>
                  </a:lnTo>
                  <a:lnTo>
                    <a:pt x="10746613" y="2375789"/>
                  </a:lnTo>
                  <a:lnTo>
                    <a:pt x="10765663" y="2375789"/>
                  </a:lnTo>
                  <a:cubicBezTo>
                    <a:pt x="10765663" y="2643632"/>
                    <a:pt x="10546461" y="2860294"/>
                    <a:pt x="10276459" y="2860294"/>
                  </a:cubicBezTo>
                  <a:lnTo>
                    <a:pt x="10276459" y="2841244"/>
                  </a:lnTo>
                  <a:lnTo>
                    <a:pt x="10276459" y="2860294"/>
                  </a:lnTo>
                  <a:lnTo>
                    <a:pt x="489204" y="2860294"/>
                  </a:lnTo>
                  <a:lnTo>
                    <a:pt x="489204" y="2841244"/>
                  </a:lnTo>
                  <a:lnTo>
                    <a:pt x="489204" y="2860294"/>
                  </a:lnTo>
                  <a:cubicBezTo>
                    <a:pt x="219202" y="2860294"/>
                    <a:pt x="0" y="2643505"/>
                    <a:pt x="0" y="2375789"/>
                  </a:cubicBezTo>
                  <a:lnTo>
                    <a:pt x="0" y="484505"/>
                  </a:lnTo>
                  <a:lnTo>
                    <a:pt x="19050" y="484505"/>
                  </a:lnTo>
                  <a:lnTo>
                    <a:pt x="0" y="484505"/>
                  </a:lnTo>
                  <a:moveTo>
                    <a:pt x="38100" y="484505"/>
                  </a:moveTo>
                  <a:lnTo>
                    <a:pt x="38100" y="2375789"/>
                  </a:lnTo>
                  <a:lnTo>
                    <a:pt x="19050" y="2375789"/>
                  </a:lnTo>
                  <a:lnTo>
                    <a:pt x="38100" y="2375789"/>
                  </a:lnTo>
                  <a:cubicBezTo>
                    <a:pt x="38100" y="2622169"/>
                    <a:pt x="239903" y="2822194"/>
                    <a:pt x="489204" y="2822194"/>
                  </a:cubicBezTo>
                  <a:lnTo>
                    <a:pt x="10276459" y="2822194"/>
                  </a:lnTo>
                  <a:cubicBezTo>
                    <a:pt x="10525760" y="2822194"/>
                    <a:pt x="10727563" y="2622169"/>
                    <a:pt x="10727563" y="2375789"/>
                  </a:cubicBezTo>
                  <a:lnTo>
                    <a:pt x="10727563" y="484505"/>
                  </a:lnTo>
                  <a:cubicBezTo>
                    <a:pt x="10727563" y="238125"/>
                    <a:pt x="10525760" y="38100"/>
                    <a:pt x="10276459" y="38100"/>
                  </a:cubicBezTo>
                  <a:lnTo>
                    <a:pt x="489204" y="38100"/>
                  </a:lnTo>
                  <a:lnTo>
                    <a:pt x="489204" y="19050"/>
                  </a:lnTo>
                  <a:lnTo>
                    <a:pt x="489204" y="38100"/>
                  </a:lnTo>
                  <a:cubicBezTo>
                    <a:pt x="239903" y="38100"/>
                    <a:pt x="38100" y="238125"/>
                    <a:pt x="38100" y="4845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465916" y="4937674"/>
            <a:ext cx="7988503" cy="698154"/>
            <a:chOff x="0" y="0"/>
            <a:chExt cx="10651338" cy="9308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51363" cy="930783"/>
            </a:xfrm>
            <a:custGeom>
              <a:avLst/>
              <a:gdLst/>
              <a:ahLst/>
              <a:cxnLst/>
              <a:rect r="r" b="b" t="t" l="l"/>
              <a:pathLst>
                <a:path h="930783" w="10651363">
                  <a:moveTo>
                    <a:pt x="0" y="419735"/>
                  </a:moveTo>
                  <a:cubicBezTo>
                    <a:pt x="0" y="187960"/>
                    <a:pt x="187960" y="0"/>
                    <a:pt x="419735" y="0"/>
                  </a:cubicBezTo>
                  <a:lnTo>
                    <a:pt x="10231628" y="0"/>
                  </a:lnTo>
                  <a:cubicBezTo>
                    <a:pt x="10463403" y="0"/>
                    <a:pt x="10651363" y="187960"/>
                    <a:pt x="10651363" y="419735"/>
                  </a:cubicBezTo>
                  <a:lnTo>
                    <a:pt x="10651363" y="511048"/>
                  </a:lnTo>
                  <a:cubicBezTo>
                    <a:pt x="10651363" y="742823"/>
                    <a:pt x="10463403" y="930783"/>
                    <a:pt x="10231628" y="930783"/>
                  </a:cubicBezTo>
                  <a:lnTo>
                    <a:pt x="419735" y="930783"/>
                  </a:lnTo>
                  <a:cubicBezTo>
                    <a:pt x="187960" y="930910"/>
                    <a:pt x="0" y="742950"/>
                    <a:pt x="0" y="511048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285584" y="5063728"/>
            <a:ext cx="349006" cy="436359"/>
            <a:chOff x="0" y="0"/>
            <a:chExt cx="465341" cy="5818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65337" cy="581818"/>
            </a:xfrm>
            <a:custGeom>
              <a:avLst/>
              <a:gdLst/>
              <a:ahLst/>
              <a:cxnLst/>
              <a:rect r="r" b="b" t="t" l="l"/>
              <a:pathLst>
                <a:path h="581818" w="465337">
                  <a:moveTo>
                    <a:pt x="0" y="0"/>
                  </a:moveTo>
                  <a:lnTo>
                    <a:pt x="465337" y="0"/>
                  </a:lnTo>
                  <a:lnTo>
                    <a:pt x="465337" y="581818"/>
                  </a:lnTo>
                  <a:lnTo>
                    <a:pt x="0" y="5818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0418" t="0" r="-110418" b="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47625"/>
              <a:ext cx="465341" cy="534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87"/>
                </a:lnSpc>
              </a:pPr>
              <a:r>
                <a:rPr lang="en-US" sz="2687" b="true">
                  <a:solidFill>
                    <a:srgbClr val="38465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698536" y="5807126"/>
            <a:ext cx="3062288" cy="41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PC2 — 20%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698536" y="6370739"/>
            <a:ext cx="7523264" cy="3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Insatisfaction client : ReturnRatio, SupportTicketsCount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423054" y="7211320"/>
            <a:ext cx="8074228" cy="2145211"/>
            <a:chOff x="0" y="0"/>
            <a:chExt cx="10765638" cy="286028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9050" y="19050"/>
              <a:ext cx="10727563" cy="2822194"/>
            </a:xfrm>
            <a:custGeom>
              <a:avLst/>
              <a:gdLst/>
              <a:ahLst/>
              <a:cxnLst/>
              <a:rect r="r" b="b" t="t" l="l"/>
              <a:pathLst>
                <a:path h="2822194" w="10727563">
                  <a:moveTo>
                    <a:pt x="0" y="465455"/>
                  </a:moveTo>
                  <a:cubicBezTo>
                    <a:pt x="0" y="208407"/>
                    <a:pt x="210439" y="0"/>
                    <a:pt x="470154" y="0"/>
                  </a:cubicBezTo>
                  <a:lnTo>
                    <a:pt x="10257409" y="0"/>
                  </a:lnTo>
                  <a:cubicBezTo>
                    <a:pt x="10516997" y="0"/>
                    <a:pt x="10727563" y="208407"/>
                    <a:pt x="10727563" y="465455"/>
                  </a:cubicBezTo>
                  <a:lnTo>
                    <a:pt x="10727563" y="2356739"/>
                  </a:lnTo>
                  <a:cubicBezTo>
                    <a:pt x="10727563" y="2613787"/>
                    <a:pt x="10517124" y="2822194"/>
                    <a:pt x="10257409" y="2822194"/>
                  </a:cubicBezTo>
                  <a:lnTo>
                    <a:pt x="470154" y="2822194"/>
                  </a:lnTo>
                  <a:cubicBezTo>
                    <a:pt x="210566" y="2822194"/>
                    <a:pt x="0" y="2613787"/>
                    <a:pt x="0" y="23567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65663" cy="2860294"/>
            </a:xfrm>
            <a:custGeom>
              <a:avLst/>
              <a:gdLst/>
              <a:ahLst/>
              <a:cxnLst/>
              <a:rect r="r" b="b" t="t" l="l"/>
              <a:pathLst>
                <a:path h="2860294" w="10765663">
                  <a:moveTo>
                    <a:pt x="0" y="484505"/>
                  </a:moveTo>
                  <a:cubicBezTo>
                    <a:pt x="0" y="216789"/>
                    <a:pt x="219202" y="0"/>
                    <a:pt x="489204" y="0"/>
                  </a:cubicBezTo>
                  <a:lnTo>
                    <a:pt x="10276459" y="0"/>
                  </a:lnTo>
                  <a:lnTo>
                    <a:pt x="10276459" y="19050"/>
                  </a:lnTo>
                  <a:lnTo>
                    <a:pt x="10276459" y="0"/>
                  </a:lnTo>
                  <a:cubicBezTo>
                    <a:pt x="10546461" y="0"/>
                    <a:pt x="10765663" y="216789"/>
                    <a:pt x="10765663" y="484505"/>
                  </a:cubicBezTo>
                  <a:lnTo>
                    <a:pt x="10746613" y="484505"/>
                  </a:lnTo>
                  <a:lnTo>
                    <a:pt x="10765663" y="484505"/>
                  </a:lnTo>
                  <a:lnTo>
                    <a:pt x="10765663" y="2375789"/>
                  </a:lnTo>
                  <a:lnTo>
                    <a:pt x="10746613" y="2375789"/>
                  </a:lnTo>
                  <a:lnTo>
                    <a:pt x="10765663" y="2375789"/>
                  </a:lnTo>
                  <a:cubicBezTo>
                    <a:pt x="10765663" y="2643632"/>
                    <a:pt x="10546461" y="2860294"/>
                    <a:pt x="10276459" y="2860294"/>
                  </a:cubicBezTo>
                  <a:lnTo>
                    <a:pt x="10276459" y="2841244"/>
                  </a:lnTo>
                  <a:lnTo>
                    <a:pt x="10276459" y="2860294"/>
                  </a:lnTo>
                  <a:lnTo>
                    <a:pt x="489204" y="2860294"/>
                  </a:lnTo>
                  <a:lnTo>
                    <a:pt x="489204" y="2841244"/>
                  </a:lnTo>
                  <a:lnTo>
                    <a:pt x="489204" y="2860294"/>
                  </a:lnTo>
                  <a:cubicBezTo>
                    <a:pt x="219202" y="2860294"/>
                    <a:pt x="0" y="2643505"/>
                    <a:pt x="0" y="2375789"/>
                  </a:cubicBezTo>
                  <a:lnTo>
                    <a:pt x="0" y="484505"/>
                  </a:lnTo>
                  <a:lnTo>
                    <a:pt x="19050" y="484505"/>
                  </a:lnTo>
                  <a:lnTo>
                    <a:pt x="0" y="484505"/>
                  </a:lnTo>
                  <a:moveTo>
                    <a:pt x="38100" y="484505"/>
                  </a:moveTo>
                  <a:lnTo>
                    <a:pt x="38100" y="2375789"/>
                  </a:lnTo>
                  <a:lnTo>
                    <a:pt x="19050" y="2375789"/>
                  </a:lnTo>
                  <a:lnTo>
                    <a:pt x="38100" y="2375789"/>
                  </a:lnTo>
                  <a:cubicBezTo>
                    <a:pt x="38100" y="2622169"/>
                    <a:pt x="239903" y="2822194"/>
                    <a:pt x="489204" y="2822194"/>
                  </a:cubicBezTo>
                  <a:lnTo>
                    <a:pt x="10276459" y="2822194"/>
                  </a:lnTo>
                  <a:cubicBezTo>
                    <a:pt x="10525760" y="2822194"/>
                    <a:pt x="10727563" y="2622169"/>
                    <a:pt x="10727563" y="2375789"/>
                  </a:cubicBezTo>
                  <a:lnTo>
                    <a:pt x="10727563" y="484505"/>
                  </a:lnTo>
                  <a:cubicBezTo>
                    <a:pt x="10727563" y="238125"/>
                    <a:pt x="10525760" y="38100"/>
                    <a:pt x="10276459" y="38100"/>
                  </a:cubicBezTo>
                  <a:lnTo>
                    <a:pt x="489204" y="38100"/>
                  </a:lnTo>
                  <a:lnTo>
                    <a:pt x="489204" y="19050"/>
                  </a:lnTo>
                  <a:lnTo>
                    <a:pt x="489204" y="38100"/>
                  </a:lnTo>
                  <a:cubicBezTo>
                    <a:pt x="239903" y="38100"/>
                    <a:pt x="38100" y="238125"/>
                    <a:pt x="38100" y="4845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465916" y="7254183"/>
            <a:ext cx="7988503" cy="698154"/>
            <a:chOff x="0" y="0"/>
            <a:chExt cx="10651338" cy="9308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51363" cy="930783"/>
            </a:xfrm>
            <a:custGeom>
              <a:avLst/>
              <a:gdLst/>
              <a:ahLst/>
              <a:cxnLst/>
              <a:rect r="r" b="b" t="t" l="l"/>
              <a:pathLst>
                <a:path h="930783" w="10651363">
                  <a:moveTo>
                    <a:pt x="0" y="419735"/>
                  </a:moveTo>
                  <a:cubicBezTo>
                    <a:pt x="0" y="187960"/>
                    <a:pt x="187960" y="0"/>
                    <a:pt x="419735" y="0"/>
                  </a:cubicBezTo>
                  <a:lnTo>
                    <a:pt x="10231628" y="0"/>
                  </a:lnTo>
                  <a:cubicBezTo>
                    <a:pt x="10463403" y="0"/>
                    <a:pt x="10651363" y="187960"/>
                    <a:pt x="10651363" y="419735"/>
                  </a:cubicBezTo>
                  <a:lnTo>
                    <a:pt x="10651363" y="511048"/>
                  </a:lnTo>
                  <a:cubicBezTo>
                    <a:pt x="10651363" y="742823"/>
                    <a:pt x="10463403" y="930783"/>
                    <a:pt x="10231628" y="930783"/>
                  </a:cubicBezTo>
                  <a:lnTo>
                    <a:pt x="419735" y="930783"/>
                  </a:lnTo>
                  <a:cubicBezTo>
                    <a:pt x="187960" y="930910"/>
                    <a:pt x="0" y="742950"/>
                    <a:pt x="0" y="511048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285584" y="7380237"/>
            <a:ext cx="349006" cy="436359"/>
            <a:chOff x="0" y="0"/>
            <a:chExt cx="465341" cy="5818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5337" cy="581818"/>
            </a:xfrm>
            <a:custGeom>
              <a:avLst/>
              <a:gdLst/>
              <a:ahLst/>
              <a:cxnLst/>
              <a:rect r="r" b="b" t="t" l="l"/>
              <a:pathLst>
                <a:path h="581818" w="465337">
                  <a:moveTo>
                    <a:pt x="0" y="0"/>
                  </a:moveTo>
                  <a:lnTo>
                    <a:pt x="465337" y="0"/>
                  </a:lnTo>
                  <a:lnTo>
                    <a:pt x="465337" y="581818"/>
                  </a:lnTo>
                  <a:lnTo>
                    <a:pt x="0" y="5818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0418" t="0" r="-110418" b="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47625"/>
              <a:ext cx="465341" cy="534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87"/>
                </a:lnSpc>
              </a:pPr>
              <a:r>
                <a:rPr lang="en-US" sz="2687" b="true">
                  <a:solidFill>
                    <a:srgbClr val="38465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9698536" y="8123634"/>
            <a:ext cx="3062288" cy="41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PC3 — 15%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698536" y="8687248"/>
            <a:ext cx="7523264" cy="3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Ancienneté et fidélité : Age, AvgDaysBetweenPurchases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3127" y="1464021"/>
            <a:ext cx="2655094" cy="537420"/>
            <a:chOff x="0" y="0"/>
            <a:chExt cx="3540125" cy="7165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0125" cy="716534"/>
            </a:xfrm>
            <a:custGeom>
              <a:avLst/>
              <a:gdLst/>
              <a:ahLst/>
              <a:cxnLst/>
              <a:rect r="r" b="b" t="t" l="l"/>
              <a:pathLst>
                <a:path h="716534" w="3540125">
                  <a:moveTo>
                    <a:pt x="0" y="358267"/>
                  </a:moveTo>
                  <a:cubicBezTo>
                    <a:pt x="0" y="160274"/>
                    <a:pt x="162814" y="0"/>
                    <a:pt x="363347" y="0"/>
                  </a:cubicBezTo>
                  <a:lnTo>
                    <a:pt x="3176778" y="0"/>
                  </a:lnTo>
                  <a:lnTo>
                    <a:pt x="3176778" y="6350"/>
                  </a:lnTo>
                  <a:lnTo>
                    <a:pt x="3176778" y="0"/>
                  </a:lnTo>
                  <a:cubicBezTo>
                    <a:pt x="3377311" y="0"/>
                    <a:pt x="3540125" y="160274"/>
                    <a:pt x="3540125" y="358267"/>
                  </a:cubicBezTo>
                  <a:lnTo>
                    <a:pt x="3533775" y="358267"/>
                  </a:lnTo>
                  <a:lnTo>
                    <a:pt x="3540125" y="358267"/>
                  </a:lnTo>
                  <a:lnTo>
                    <a:pt x="3533775" y="358267"/>
                  </a:lnTo>
                  <a:lnTo>
                    <a:pt x="3540125" y="358267"/>
                  </a:lnTo>
                  <a:cubicBezTo>
                    <a:pt x="3540125" y="556260"/>
                    <a:pt x="3377311" y="716534"/>
                    <a:pt x="3176778" y="716534"/>
                  </a:cubicBezTo>
                  <a:lnTo>
                    <a:pt x="3176778" y="710184"/>
                  </a:lnTo>
                  <a:lnTo>
                    <a:pt x="3176778" y="716534"/>
                  </a:lnTo>
                  <a:lnTo>
                    <a:pt x="363347" y="716534"/>
                  </a:lnTo>
                  <a:lnTo>
                    <a:pt x="363347" y="710184"/>
                  </a:lnTo>
                  <a:lnTo>
                    <a:pt x="363347" y="716534"/>
                  </a:lnTo>
                  <a:cubicBezTo>
                    <a:pt x="162814" y="716534"/>
                    <a:pt x="0" y="556260"/>
                    <a:pt x="0" y="358267"/>
                  </a:cubicBezTo>
                  <a:lnTo>
                    <a:pt x="6350" y="358267"/>
                  </a:lnTo>
                  <a:lnTo>
                    <a:pt x="0" y="358267"/>
                  </a:lnTo>
                  <a:moveTo>
                    <a:pt x="12700" y="358267"/>
                  </a:moveTo>
                  <a:lnTo>
                    <a:pt x="6350" y="358267"/>
                  </a:lnTo>
                  <a:lnTo>
                    <a:pt x="12700" y="358267"/>
                  </a:lnTo>
                  <a:cubicBezTo>
                    <a:pt x="12700" y="549021"/>
                    <a:pt x="169545" y="703834"/>
                    <a:pt x="363347" y="703834"/>
                  </a:cubicBezTo>
                  <a:lnTo>
                    <a:pt x="3176778" y="703834"/>
                  </a:lnTo>
                  <a:cubicBezTo>
                    <a:pt x="3370580" y="703834"/>
                    <a:pt x="3527425" y="549021"/>
                    <a:pt x="3527425" y="358267"/>
                  </a:cubicBezTo>
                  <a:cubicBezTo>
                    <a:pt x="3527425" y="167513"/>
                    <a:pt x="3370580" y="12700"/>
                    <a:pt x="3176778" y="12700"/>
                  </a:cubicBezTo>
                  <a:lnTo>
                    <a:pt x="363347" y="12700"/>
                  </a:lnTo>
                  <a:lnTo>
                    <a:pt x="363347" y="6350"/>
                  </a:lnTo>
                  <a:lnTo>
                    <a:pt x="363347" y="12700"/>
                  </a:lnTo>
                  <a:cubicBezTo>
                    <a:pt x="169545" y="12700"/>
                    <a:pt x="12700" y="167513"/>
                    <a:pt x="12700" y="358267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9778" y="1502273"/>
            <a:ext cx="2301773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75BAE6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723980" y="1464021"/>
            <a:ext cx="2338835" cy="537420"/>
            <a:chOff x="0" y="0"/>
            <a:chExt cx="3118447" cy="7165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18485" cy="716534"/>
            </a:xfrm>
            <a:custGeom>
              <a:avLst/>
              <a:gdLst/>
              <a:ahLst/>
              <a:cxnLst/>
              <a:rect r="r" b="b" t="t" l="l"/>
              <a:pathLst>
                <a:path h="716534" w="3118485">
                  <a:moveTo>
                    <a:pt x="0" y="358267"/>
                  </a:moveTo>
                  <a:cubicBezTo>
                    <a:pt x="0" y="160274"/>
                    <a:pt x="162687" y="0"/>
                    <a:pt x="363220" y="0"/>
                  </a:cubicBezTo>
                  <a:lnTo>
                    <a:pt x="2755265" y="0"/>
                  </a:lnTo>
                  <a:lnTo>
                    <a:pt x="2755265" y="6350"/>
                  </a:lnTo>
                  <a:lnTo>
                    <a:pt x="2755265" y="0"/>
                  </a:lnTo>
                  <a:cubicBezTo>
                    <a:pt x="2955798" y="0"/>
                    <a:pt x="3118485" y="160274"/>
                    <a:pt x="3118485" y="358267"/>
                  </a:cubicBezTo>
                  <a:lnTo>
                    <a:pt x="3112135" y="358267"/>
                  </a:lnTo>
                  <a:lnTo>
                    <a:pt x="3118485" y="358267"/>
                  </a:lnTo>
                  <a:lnTo>
                    <a:pt x="3112135" y="358267"/>
                  </a:lnTo>
                  <a:lnTo>
                    <a:pt x="3118485" y="358267"/>
                  </a:lnTo>
                  <a:cubicBezTo>
                    <a:pt x="3118485" y="556260"/>
                    <a:pt x="2955798" y="716534"/>
                    <a:pt x="2755265" y="716534"/>
                  </a:cubicBezTo>
                  <a:lnTo>
                    <a:pt x="2755265" y="710184"/>
                  </a:lnTo>
                  <a:lnTo>
                    <a:pt x="2755265" y="716534"/>
                  </a:lnTo>
                  <a:lnTo>
                    <a:pt x="363220" y="716534"/>
                  </a:lnTo>
                  <a:lnTo>
                    <a:pt x="363220" y="710184"/>
                  </a:lnTo>
                  <a:lnTo>
                    <a:pt x="363220" y="716534"/>
                  </a:lnTo>
                  <a:cubicBezTo>
                    <a:pt x="162687" y="716534"/>
                    <a:pt x="0" y="556260"/>
                    <a:pt x="0" y="358267"/>
                  </a:cubicBezTo>
                  <a:lnTo>
                    <a:pt x="6350" y="358267"/>
                  </a:lnTo>
                  <a:lnTo>
                    <a:pt x="0" y="358267"/>
                  </a:lnTo>
                  <a:moveTo>
                    <a:pt x="12700" y="358267"/>
                  </a:moveTo>
                  <a:lnTo>
                    <a:pt x="6350" y="358267"/>
                  </a:lnTo>
                  <a:lnTo>
                    <a:pt x="12700" y="358267"/>
                  </a:lnTo>
                  <a:cubicBezTo>
                    <a:pt x="12700" y="549021"/>
                    <a:pt x="169545" y="703834"/>
                    <a:pt x="363220" y="703834"/>
                  </a:cubicBezTo>
                  <a:lnTo>
                    <a:pt x="2755265" y="703834"/>
                  </a:lnTo>
                  <a:cubicBezTo>
                    <a:pt x="2948940" y="703834"/>
                    <a:pt x="3105785" y="549021"/>
                    <a:pt x="3105785" y="358267"/>
                  </a:cubicBezTo>
                  <a:cubicBezTo>
                    <a:pt x="3105785" y="167513"/>
                    <a:pt x="2948940" y="12700"/>
                    <a:pt x="2755265" y="12700"/>
                  </a:cubicBezTo>
                  <a:lnTo>
                    <a:pt x="363220" y="12700"/>
                  </a:lnTo>
                  <a:lnTo>
                    <a:pt x="363220" y="6350"/>
                  </a:lnTo>
                  <a:lnTo>
                    <a:pt x="363220" y="12700"/>
                  </a:lnTo>
                  <a:cubicBezTo>
                    <a:pt x="169545" y="12700"/>
                    <a:pt x="12700" y="167513"/>
                    <a:pt x="12700" y="358267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00640" y="1502273"/>
            <a:ext cx="1985515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75BAE6"/>
                </a:solidFill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7890" y="2066773"/>
            <a:ext cx="4927045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 Random Forest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7890" y="3706568"/>
            <a:ext cx="5819327" cy="2884141"/>
            <a:chOff x="0" y="0"/>
            <a:chExt cx="7759103" cy="38455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59065" cy="3845560"/>
            </a:xfrm>
            <a:custGeom>
              <a:avLst/>
              <a:gdLst/>
              <a:ahLst/>
              <a:cxnLst/>
              <a:rect r="r" b="b" t="t" l="l"/>
              <a:pathLst>
                <a:path h="3845560" w="7759065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lnTo>
                    <a:pt x="7217410" y="0"/>
                  </a:lnTo>
                  <a:cubicBezTo>
                    <a:pt x="7516495" y="0"/>
                    <a:pt x="7759065" y="242443"/>
                    <a:pt x="7759065" y="541655"/>
                  </a:cubicBezTo>
                  <a:lnTo>
                    <a:pt x="7759065" y="3303905"/>
                  </a:lnTo>
                  <a:cubicBezTo>
                    <a:pt x="7759065" y="3602990"/>
                    <a:pt x="7516622" y="3845560"/>
                    <a:pt x="7217410" y="3845560"/>
                  </a:cubicBezTo>
                  <a:lnTo>
                    <a:pt x="541655" y="3845560"/>
                  </a:lnTo>
                  <a:cubicBezTo>
                    <a:pt x="242443" y="3845560"/>
                    <a:pt x="0" y="3602990"/>
                    <a:pt x="0" y="3303905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18609" y="4122239"/>
            <a:ext cx="338433" cy="270720"/>
            <a:chOff x="0" y="0"/>
            <a:chExt cx="451244" cy="36095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51231" cy="360934"/>
            </a:xfrm>
            <a:custGeom>
              <a:avLst/>
              <a:gdLst/>
              <a:ahLst/>
              <a:cxnLst/>
              <a:rect r="r" b="b" t="t" l="l"/>
              <a:pathLst>
                <a:path h="360934" w="451231">
                  <a:moveTo>
                    <a:pt x="0" y="0"/>
                  </a:moveTo>
                  <a:lnTo>
                    <a:pt x="451231" y="0"/>
                  </a:lnTo>
                  <a:lnTo>
                    <a:pt x="451231" y="360934"/>
                  </a:lnTo>
                  <a:lnTo>
                    <a:pt x="0" y="360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24" t="0" r="-1424" b="-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827762" y="3968648"/>
            <a:ext cx="4668736" cy="224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C'est quoi un arbre de décision (schéma simple) Pourquoi 100 arbres ? → éviter le surapprentissage Les deux sources de diversité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7890" y="6819157"/>
            <a:ext cx="5819327" cy="1904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AutoNum type="arabicPeriod" startAt="1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Chaque arbre → sous-ensemble différent de clients (bootstrap)</a:t>
            </a:r>
          </a:p>
          <a:p>
            <a:pPr algn="l" marL="320477" indent="-160238" lvl="1">
              <a:lnSpc>
                <a:spcPts val="3374"/>
              </a:lnSpc>
              <a:buAutoNum type="arabicPeriod" startAt="1"/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Chaque arbre → sous-ensemble différent de PC (feature sampling)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37539" y="3706568"/>
            <a:ext cx="9911953" cy="1827609"/>
            <a:chOff x="0" y="0"/>
            <a:chExt cx="13215938" cy="24368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216001" cy="2436876"/>
            </a:xfrm>
            <a:custGeom>
              <a:avLst/>
              <a:gdLst/>
              <a:ahLst/>
              <a:cxnLst/>
              <a:rect r="r" b="b" t="t" l="l"/>
              <a:pathLst>
                <a:path h="2436876" w="13216001">
                  <a:moveTo>
                    <a:pt x="0" y="541655"/>
                  </a:moveTo>
                  <a:cubicBezTo>
                    <a:pt x="0" y="242570"/>
                    <a:pt x="242570" y="0"/>
                    <a:pt x="541655" y="0"/>
                  </a:cubicBezTo>
                  <a:lnTo>
                    <a:pt x="12674346" y="0"/>
                  </a:lnTo>
                  <a:cubicBezTo>
                    <a:pt x="12973431" y="0"/>
                    <a:pt x="13216001" y="242570"/>
                    <a:pt x="13216001" y="541655"/>
                  </a:cubicBezTo>
                  <a:lnTo>
                    <a:pt x="13216001" y="1895221"/>
                  </a:lnTo>
                  <a:cubicBezTo>
                    <a:pt x="13216001" y="2194306"/>
                    <a:pt x="12973431" y="2436876"/>
                    <a:pt x="12674346" y="2436876"/>
                  </a:cubicBezTo>
                  <a:lnTo>
                    <a:pt x="541655" y="2436876"/>
                  </a:lnTo>
                  <a:cubicBezTo>
                    <a:pt x="242570" y="2436876"/>
                    <a:pt x="0" y="2194306"/>
                    <a:pt x="0" y="1895221"/>
                  </a:cubicBezTo>
                  <a:close/>
                </a:path>
              </a:pathLst>
            </a:custGeom>
            <a:solidFill>
              <a:srgbClr val="BEDFF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708259" y="4122239"/>
            <a:ext cx="338433" cy="270720"/>
            <a:chOff x="0" y="0"/>
            <a:chExt cx="451244" cy="360959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51231" cy="360934"/>
            </a:xfrm>
            <a:custGeom>
              <a:avLst/>
              <a:gdLst/>
              <a:ahLst/>
              <a:cxnLst/>
              <a:rect r="r" b="b" t="t" l="l"/>
              <a:pathLst>
                <a:path h="360934" w="451231">
                  <a:moveTo>
                    <a:pt x="0" y="0"/>
                  </a:moveTo>
                  <a:lnTo>
                    <a:pt x="451231" y="0"/>
                  </a:lnTo>
                  <a:lnTo>
                    <a:pt x="451231" y="360934"/>
                  </a:lnTo>
                  <a:lnTo>
                    <a:pt x="0" y="360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24" t="0" r="-1424" b="-7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317411" y="3968648"/>
            <a:ext cx="8761362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class_weight='balanced' → formule du poids 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17411" y="4645666"/>
            <a:ext cx="8761362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poids = nombre_total / (2 × nombre_de_la_classe)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43685" y="5762625"/>
            <a:ext cx="9505798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Vote majoritaire → résultat final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437539" y="5838825"/>
            <a:ext cx="38100" cy="433388"/>
            <a:chOff x="0" y="0"/>
            <a:chExt cx="50800" cy="5778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" cy="577850"/>
            </a:xfrm>
            <a:custGeom>
              <a:avLst/>
              <a:gdLst/>
              <a:ahLst/>
              <a:cxnLst/>
              <a:rect r="r" b="b" t="t" l="l"/>
              <a:pathLst>
                <a:path h="577850" w="50800">
                  <a:moveTo>
                    <a:pt x="0" y="0"/>
                  </a:moveTo>
                  <a:lnTo>
                    <a:pt x="50800" y="0"/>
                  </a:lnTo>
                  <a:lnTo>
                    <a:pt x="50800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75BAE6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3315891"/>
            <a:ext cx="7658995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Prédiction et probabilité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4439393"/>
            <a:ext cx="820668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Détail de model.predict vs model.predict_proba 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7890" y="5253628"/>
            <a:ext cx="8206683" cy="1841602"/>
            <a:chOff x="0" y="0"/>
            <a:chExt cx="10942244" cy="2455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42193" cy="2455418"/>
            </a:xfrm>
            <a:custGeom>
              <a:avLst/>
              <a:gdLst/>
              <a:ahLst/>
              <a:cxnLst/>
              <a:rect r="r" b="b" t="t" l="l"/>
              <a:pathLst>
                <a:path h="2455418" w="10942193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lnTo>
                    <a:pt x="10400538" y="0"/>
                  </a:lnTo>
                  <a:cubicBezTo>
                    <a:pt x="10699623" y="0"/>
                    <a:pt x="10942193" y="242443"/>
                    <a:pt x="10942193" y="541655"/>
                  </a:cubicBezTo>
                  <a:lnTo>
                    <a:pt x="10942193" y="1913763"/>
                  </a:lnTo>
                  <a:cubicBezTo>
                    <a:pt x="10942193" y="2212848"/>
                    <a:pt x="10699750" y="2455418"/>
                    <a:pt x="10400538" y="2455418"/>
                  </a:cubicBezTo>
                  <a:lnTo>
                    <a:pt x="541655" y="2455418"/>
                  </a:lnTo>
                  <a:cubicBezTo>
                    <a:pt x="242443" y="2455418"/>
                    <a:pt x="0" y="2212975"/>
                    <a:pt x="0" y="191376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4488" y="5253628"/>
            <a:ext cx="8233467" cy="1841602"/>
            <a:chOff x="0" y="0"/>
            <a:chExt cx="10977956" cy="2455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8007" cy="2455545"/>
            </a:xfrm>
            <a:custGeom>
              <a:avLst/>
              <a:gdLst/>
              <a:ahLst/>
              <a:cxnLst/>
              <a:rect r="r" b="b" t="t" l="l"/>
              <a:pathLst>
                <a:path h="2455545" w="10978007">
                  <a:moveTo>
                    <a:pt x="0" y="54229"/>
                  </a:moveTo>
                  <a:cubicBezTo>
                    <a:pt x="0" y="24257"/>
                    <a:pt x="24257" y="0"/>
                    <a:pt x="54229" y="0"/>
                  </a:cubicBezTo>
                  <a:lnTo>
                    <a:pt x="10923778" y="0"/>
                  </a:lnTo>
                  <a:cubicBezTo>
                    <a:pt x="10953750" y="0"/>
                    <a:pt x="10978007" y="24257"/>
                    <a:pt x="10978007" y="54229"/>
                  </a:cubicBezTo>
                  <a:lnTo>
                    <a:pt x="10978007" y="2401316"/>
                  </a:lnTo>
                  <a:cubicBezTo>
                    <a:pt x="10978007" y="2431288"/>
                    <a:pt x="10953750" y="2455545"/>
                    <a:pt x="10923778" y="2455545"/>
                  </a:cubicBezTo>
                  <a:lnTo>
                    <a:pt x="54229" y="2455545"/>
                  </a:lnTo>
                  <a:cubicBezTo>
                    <a:pt x="24257" y="2455545"/>
                    <a:pt x="0" y="2431288"/>
                    <a:pt x="0" y="24013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72931" y="5400523"/>
            <a:ext cx="7556602" cy="142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model.predict()       → [1]           (0 ou 1)</a:t>
            </a:r>
          </a:p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model.predict_proba() → [[0.33, 0.67]] (les deux probabilités)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24885" y="2736952"/>
            <a:ext cx="7524598" cy="3357858"/>
            <a:chOff x="0" y="0"/>
            <a:chExt cx="10032797" cy="44771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32874" cy="4477131"/>
            </a:xfrm>
            <a:custGeom>
              <a:avLst/>
              <a:gdLst/>
              <a:ahLst/>
              <a:cxnLst/>
              <a:rect r="r" b="b" t="t" l="l"/>
              <a:pathLst>
                <a:path h="4477131" w="10032874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lnTo>
                    <a:pt x="9491218" y="0"/>
                  </a:lnTo>
                  <a:cubicBezTo>
                    <a:pt x="9790303" y="0"/>
                    <a:pt x="10032874" y="242443"/>
                    <a:pt x="10032874" y="541655"/>
                  </a:cubicBezTo>
                  <a:lnTo>
                    <a:pt x="10032874" y="3935476"/>
                  </a:lnTo>
                  <a:cubicBezTo>
                    <a:pt x="10032874" y="4234561"/>
                    <a:pt x="9790430" y="4477131"/>
                    <a:pt x="9491218" y="4477131"/>
                  </a:cubicBezTo>
                  <a:lnTo>
                    <a:pt x="541655" y="4477131"/>
                  </a:lnTo>
                  <a:cubicBezTo>
                    <a:pt x="242443" y="4477131"/>
                    <a:pt x="0" y="4234688"/>
                    <a:pt x="0" y="3935476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095605" y="3152623"/>
            <a:ext cx="338433" cy="270720"/>
            <a:chOff x="0" y="0"/>
            <a:chExt cx="451244" cy="36095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51231" cy="360934"/>
            </a:xfrm>
            <a:custGeom>
              <a:avLst/>
              <a:gdLst/>
              <a:ahLst/>
              <a:cxnLst/>
              <a:rect r="r" b="b" t="t" l="l"/>
              <a:pathLst>
                <a:path h="360934" w="451231">
                  <a:moveTo>
                    <a:pt x="0" y="0"/>
                  </a:moveTo>
                  <a:lnTo>
                    <a:pt x="451231" y="0"/>
                  </a:lnTo>
                  <a:lnTo>
                    <a:pt x="451231" y="360934"/>
                  </a:lnTo>
                  <a:lnTo>
                    <a:pt x="0" y="360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24" t="0" r="-1424" b="-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04757" y="2999032"/>
            <a:ext cx="6374016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Calcul de la probabilité 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704757" y="3813277"/>
            <a:ext cx="6374016" cy="1841602"/>
            <a:chOff x="0" y="0"/>
            <a:chExt cx="8498688" cy="24554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98713" cy="2455418"/>
            </a:xfrm>
            <a:custGeom>
              <a:avLst/>
              <a:gdLst/>
              <a:ahLst/>
              <a:cxnLst/>
              <a:rect r="r" b="b" t="t" l="l"/>
              <a:pathLst>
                <a:path h="2455418" w="8498713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lnTo>
                    <a:pt x="7957058" y="0"/>
                  </a:lnTo>
                  <a:cubicBezTo>
                    <a:pt x="8256143" y="0"/>
                    <a:pt x="8498713" y="242443"/>
                    <a:pt x="8498713" y="541655"/>
                  </a:cubicBezTo>
                  <a:lnTo>
                    <a:pt x="8498713" y="1913763"/>
                  </a:lnTo>
                  <a:cubicBezTo>
                    <a:pt x="8498713" y="2212848"/>
                    <a:pt x="8256270" y="2455418"/>
                    <a:pt x="7957058" y="2455418"/>
                  </a:cubicBezTo>
                  <a:lnTo>
                    <a:pt x="541655" y="2455418"/>
                  </a:lnTo>
                  <a:cubicBezTo>
                    <a:pt x="242443" y="2455418"/>
                    <a:pt x="0" y="2212975"/>
                    <a:pt x="0" y="191376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91365" y="3813277"/>
            <a:ext cx="6400800" cy="1841602"/>
            <a:chOff x="0" y="0"/>
            <a:chExt cx="8534400" cy="24554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34400" cy="2455545"/>
            </a:xfrm>
            <a:custGeom>
              <a:avLst/>
              <a:gdLst/>
              <a:ahLst/>
              <a:cxnLst/>
              <a:rect r="r" b="b" t="t" l="l"/>
              <a:pathLst>
                <a:path h="2455545" w="8534400">
                  <a:moveTo>
                    <a:pt x="0" y="54229"/>
                  </a:moveTo>
                  <a:cubicBezTo>
                    <a:pt x="0" y="24257"/>
                    <a:pt x="24257" y="0"/>
                    <a:pt x="54229" y="0"/>
                  </a:cubicBezTo>
                  <a:lnTo>
                    <a:pt x="8480171" y="0"/>
                  </a:lnTo>
                  <a:cubicBezTo>
                    <a:pt x="8510143" y="0"/>
                    <a:pt x="8534400" y="24257"/>
                    <a:pt x="8534400" y="54229"/>
                  </a:cubicBezTo>
                  <a:lnTo>
                    <a:pt x="8534400" y="2401316"/>
                  </a:lnTo>
                  <a:cubicBezTo>
                    <a:pt x="8534400" y="2431288"/>
                    <a:pt x="8510143" y="2455545"/>
                    <a:pt x="8480171" y="2455545"/>
                  </a:cubicBezTo>
                  <a:lnTo>
                    <a:pt x="54229" y="2455545"/>
                  </a:lnTo>
                  <a:cubicBezTo>
                    <a:pt x="24257" y="2455545"/>
                    <a:pt x="0" y="2431288"/>
                    <a:pt x="0" y="24013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029798" y="3960171"/>
            <a:ext cx="5723934" cy="142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proba = predict_proba()[0][1] × 100</a:t>
            </a:r>
          </a:p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= 0.67 × 100</a:t>
            </a:r>
          </a:p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= 67%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24885" y="6399457"/>
            <a:ext cx="7524598" cy="1150591"/>
            <a:chOff x="0" y="0"/>
            <a:chExt cx="10032797" cy="15341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32747" cy="1534160"/>
            </a:xfrm>
            <a:custGeom>
              <a:avLst/>
              <a:gdLst/>
              <a:ahLst/>
              <a:cxnLst/>
              <a:rect r="r" b="b" t="t" l="l"/>
              <a:pathLst>
                <a:path h="1534160" w="10032747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lnTo>
                    <a:pt x="9491091" y="0"/>
                  </a:lnTo>
                  <a:cubicBezTo>
                    <a:pt x="9790176" y="0"/>
                    <a:pt x="10032747" y="242443"/>
                    <a:pt x="10032747" y="541655"/>
                  </a:cubicBezTo>
                  <a:lnTo>
                    <a:pt x="10032747" y="992505"/>
                  </a:lnTo>
                  <a:cubicBezTo>
                    <a:pt x="10032747" y="1291590"/>
                    <a:pt x="9790303" y="1534160"/>
                    <a:pt x="9491091" y="1534160"/>
                  </a:cubicBezTo>
                  <a:lnTo>
                    <a:pt x="541655" y="1534160"/>
                  </a:lnTo>
                  <a:cubicBezTo>
                    <a:pt x="242443" y="1534160"/>
                    <a:pt x="0" y="1291590"/>
                    <a:pt x="0" y="992505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95605" y="6815138"/>
            <a:ext cx="338433" cy="270720"/>
            <a:chOff x="0" y="0"/>
            <a:chExt cx="451244" cy="360959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51231" cy="360934"/>
            </a:xfrm>
            <a:custGeom>
              <a:avLst/>
              <a:gdLst/>
              <a:ahLst/>
              <a:cxnLst/>
              <a:rect r="r" b="b" t="t" l="l"/>
              <a:pathLst>
                <a:path h="360934" w="451231">
                  <a:moveTo>
                    <a:pt x="0" y="0"/>
                  </a:moveTo>
                  <a:lnTo>
                    <a:pt x="451231" y="0"/>
                  </a:lnTo>
                  <a:lnTo>
                    <a:pt x="451231" y="360934"/>
                  </a:lnTo>
                  <a:lnTo>
                    <a:pt x="0" y="360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24" t="0" r="-1424" b="-7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704757" y="6661547"/>
            <a:ext cx="6374016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Seuil de décision : probabilité &gt; 0.5 → Churn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2553595"/>
            <a:ext cx="8057998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Résultats et performance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2770" y="3888734"/>
            <a:ext cx="6891633" cy="4442670"/>
            <a:chOff x="0" y="0"/>
            <a:chExt cx="9188844" cy="5923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88831" cy="5923534"/>
            </a:xfrm>
            <a:custGeom>
              <a:avLst/>
              <a:gdLst/>
              <a:ahLst/>
              <a:cxnLst/>
              <a:rect r="r" b="b" t="t" l="l"/>
              <a:pathLst>
                <a:path h="5923534" w="9188831">
                  <a:moveTo>
                    <a:pt x="0" y="866648"/>
                  </a:moveTo>
                  <a:cubicBezTo>
                    <a:pt x="0" y="387985"/>
                    <a:pt x="387985" y="0"/>
                    <a:pt x="866648" y="0"/>
                  </a:cubicBezTo>
                  <a:lnTo>
                    <a:pt x="8322183" y="0"/>
                  </a:lnTo>
                  <a:cubicBezTo>
                    <a:pt x="8800846" y="0"/>
                    <a:pt x="9188831" y="387985"/>
                    <a:pt x="9188831" y="866648"/>
                  </a:cubicBezTo>
                  <a:lnTo>
                    <a:pt x="9188831" y="5056886"/>
                  </a:lnTo>
                  <a:cubicBezTo>
                    <a:pt x="9188831" y="5535549"/>
                    <a:pt x="8800846" y="5923534"/>
                    <a:pt x="8322183" y="5923534"/>
                  </a:cubicBezTo>
                  <a:lnTo>
                    <a:pt x="866648" y="5923534"/>
                  </a:lnTo>
                  <a:cubicBezTo>
                    <a:pt x="387985" y="5923534"/>
                    <a:pt x="0" y="5535549"/>
                    <a:pt x="0" y="5056886"/>
                  </a:cubicBezTo>
                  <a:close/>
                </a:path>
              </a:pathLst>
            </a:custGeom>
            <a:solidFill>
              <a:srgbClr val="F3F7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3490" y="4111828"/>
            <a:ext cx="6350203" cy="2506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Accuracy : 97%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3490" y="6812909"/>
            <a:ext cx="635020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Importance des composantes PC1...PC7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19615" y="4056164"/>
            <a:ext cx="922987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Tableau classification report complet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14852" y="4865637"/>
            <a:ext cx="9239402" cy="3165872"/>
            <a:chOff x="0" y="0"/>
            <a:chExt cx="12319203" cy="42211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19254" cy="4221099"/>
            </a:xfrm>
            <a:custGeom>
              <a:avLst/>
              <a:gdLst/>
              <a:ahLst/>
              <a:cxnLst/>
              <a:rect r="r" b="b" t="t" l="l"/>
              <a:pathLst>
                <a:path h="4221099" w="12319254">
                  <a:moveTo>
                    <a:pt x="0" y="548005"/>
                  </a:moveTo>
                  <a:cubicBezTo>
                    <a:pt x="0" y="245364"/>
                    <a:pt x="245872" y="0"/>
                    <a:pt x="549148" y="0"/>
                  </a:cubicBezTo>
                  <a:lnTo>
                    <a:pt x="11770106" y="0"/>
                  </a:lnTo>
                  <a:lnTo>
                    <a:pt x="11770106" y="6350"/>
                  </a:lnTo>
                  <a:lnTo>
                    <a:pt x="11770106" y="0"/>
                  </a:lnTo>
                  <a:cubicBezTo>
                    <a:pt x="12073382" y="0"/>
                    <a:pt x="12319254" y="245364"/>
                    <a:pt x="12319254" y="548005"/>
                  </a:cubicBezTo>
                  <a:lnTo>
                    <a:pt x="12312904" y="548005"/>
                  </a:lnTo>
                  <a:lnTo>
                    <a:pt x="12319254" y="548005"/>
                  </a:lnTo>
                  <a:lnTo>
                    <a:pt x="12319254" y="3673094"/>
                  </a:lnTo>
                  <a:lnTo>
                    <a:pt x="12312904" y="3673094"/>
                  </a:lnTo>
                  <a:lnTo>
                    <a:pt x="12319254" y="3673094"/>
                  </a:lnTo>
                  <a:cubicBezTo>
                    <a:pt x="12319254" y="3975735"/>
                    <a:pt x="12073382" y="4221099"/>
                    <a:pt x="11770106" y="4221099"/>
                  </a:cubicBezTo>
                  <a:lnTo>
                    <a:pt x="11770106" y="4214749"/>
                  </a:lnTo>
                  <a:lnTo>
                    <a:pt x="11770106" y="4221099"/>
                  </a:lnTo>
                  <a:lnTo>
                    <a:pt x="549148" y="4221099"/>
                  </a:lnTo>
                  <a:lnTo>
                    <a:pt x="549148" y="4214749"/>
                  </a:lnTo>
                  <a:lnTo>
                    <a:pt x="549148" y="4221099"/>
                  </a:lnTo>
                  <a:cubicBezTo>
                    <a:pt x="245872" y="4221226"/>
                    <a:pt x="0" y="3975862"/>
                    <a:pt x="0" y="3673094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673094"/>
                  </a:lnTo>
                  <a:lnTo>
                    <a:pt x="6350" y="3673094"/>
                  </a:lnTo>
                  <a:lnTo>
                    <a:pt x="12700" y="3673094"/>
                  </a:lnTo>
                  <a:cubicBezTo>
                    <a:pt x="12700" y="3968750"/>
                    <a:pt x="252857" y="4208399"/>
                    <a:pt x="549148" y="4208399"/>
                  </a:cubicBezTo>
                  <a:lnTo>
                    <a:pt x="11770106" y="4208399"/>
                  </a:lnTo>
                  <a:cubicBezTo>
                    <a:pt x="12066398" y="4208399"/>
                    <a:pt x="12306554" y="3968750"/>
                    <a:pt x="12306554" y="3673094"/>
                  </a:cubicBezTo>
                  <a:lnTo>
                    <a:pt x="12306554" y="548005"/>
                  </a:lnTo>
                  <a:cubicBezTo>
                    <a:pt x="12306554" y="252349"/>
                    <a:pt x="12066397" y="12700"/>
                    <a:pt x="11770106" y="12700"/>
                  </a:cubicBezTo>
                  <a:lnTo>
                    <a:pt x="549148" y="12700"/>
                  </a:lnTo>
                  <a:lnTo>
                    <a:pt x="549148" y="6350"/>
                  </a:lnTo>
                  <a:lnTo>
                    <a:pt x="549148" y="12700"/>
                  </a:lnTo>
                  <a:cubicBezTo>
                    <a:pt x="252857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400155" y="4975622"/>
            <a:ext cx="258544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Classe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36566" y="4975622"/>
            <a:ext cx="147533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Précision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62857" y="4975622"/>
            <a:ext cx="147533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Rappel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89148" y="4975622"/>
            <a:ext cx="1480099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00155" y="5762330"/>
            <a:ext cx="258544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 Churn (0)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36566" y="5762330"/>
            <a:ext cx="147533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0.97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62857" y="5762330"/>
            <a:ext cx="147533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0.98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589148" y="5762330"/>
            <a:ext cx="1480099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0.97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00155" y="6549028"/>
            <a:ext cx="258544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Churn (1)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36566" y="6549028"/>
            <a:ext cx="147533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0.97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62857" y="6549028"/>
            <a:ext cx="147533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0.96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589148" y="6549028"/>
            <a:ext cx="1480099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0.97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00155" y="7335736"/>
            <a:ext cx="258544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Macro avg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36566" y="7335736"/>
            <a:ext cx="147533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0.97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62857" y="7335736"/>
            <a:ext cx="147533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0.97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89148" y="7335736"/>
            <a:ext cx="1480099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0.97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7890" y="1925393"/>
            <a:ext cx="1252690" cy="508845"/>
            <a:chOff x="0" y="0"/>
            <a:chExt cx="1670253" cy="6784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0177" cy="678434"/>
            </a:xfrm>
            <a:custGeom>
              <a:avLst/>
              <a:gdLst/>
              <a:ahLst/>
              <a:cxnLst/>
              <a:rect r="r" b="b" t="t" l="l"/>
              <a:pathLst>
                <a:path h="678434" w="1670177">
                  <a:moveTo>
                    <a:pt x="0" y="339217"/>
                  </a:moveTo>
                  <a:cubicBezTo>
                    <a:pt x="0" y="151892"/>
                    <a:pt x="151892" y="0"/>
                    <a:pt x="339217" y="0"/>
                  </a:cubicBezTo>
                  <a:lnTo>
                    <a:pt x="1330960" y="0"/>
                  </a:lnTo>
                  <a:cubicBezTo>
                    <a:pt x="1518285" y="0"/>
                    <a:pt x="1670177" y="151892"/>
                    <a:pt x="1670177" y="339217"/>
                  </a:cubicBezTo>
                  <a:cubicBezTo>
                    <a:pt x="1670177" y="526542"/>
                    <a:pt x="1518412" y="678434"/>
                    <a:pt x="1330960" y="678434"/>
                  </a:cubicBezTo>
                  <a:lnTo>
                    <a:pt x="339217" y="678434"/>
                  </a:lnTo>
                  <a:cubicBezTo>
                    <a:pt x="151892" y="678434"/>
                    <a:pt x="0" y="526542"/>
                    <a:pt x="0" y="33921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331091" y="1911106"/>
            <a:ext cx="1998907" cy="537420"/>
            <a:chOff x="0" y="0"/>
            <a:chExt cx="2665209" cy="716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5222" cy="716534"/>
            </a:xfrm>
            <a:custGeom>
              <a:avLst/>
              <a:gdLst/>
              <a:ahLst/>
              <a:cxnLst/>
              <a:rect r="r" b="b" t="t" l="l"/>
              <a:pathLst>
                <a:path h="716534" w="2665222">
                  <a:moveTo>
                    <a:pt x="0" y="358267"/>
                  </a:moveTo>
                  <a:cubicBezTo>
                    <a:pt x="0" y="160274"/>
                    <a:pt x="162560" y="0"/>
                    <a:pt x="362966" y="0"/>
                  </a:cubicBezTo>
                  <a:lnTo>
                    <a:pt x="2302256" y="0"/>
                  </a:lnTo>
                  <a:lnTo>
                    <a:pt x="2302256" y="6350"/>
                  </a:lnTo>
                  <a:lnTo>
                    <a:pt x="2302256" y="0"/>
                  </a:lnTo>
                  <a:cubicBezTo>
                    <a:pt x="2502662" y="0"/>
                    <a:pt x="2665222" y="160274"/>
                    <a:pt x="2665222" y="358267"/>
                  </a:cubicBezTo>
                  <a:lnTo>
                    <a:pt x="2658872" y="358267"/>
                  </a:lnTo>
                  <a:lnTo>
                    <a:pt x="2665222" y="358267"/>
                  </a:lnTo>
                  <a:lnTo>
                    <a:pt x="2658872" y="358267"/>
                  </a:lnTo>
                  <a:lnTo>
                    <a:pt x="2665222" y="358267"/>
                  </a:lnTo>
                  <a:cubicBezTo>
                    <a:pt x="2665222" y="556260"/>
                    <a:pt x="2502662" y="716534"/>
                    <a:pt x="2302256" y="716534"/>
                  </a:cubicBezTo>
                  <a:lnTo>
                    <a:pt x="2302256" y="710184"/>
                  </a:lnTo>
                  <a:lnTo>
                    <a:pt x="2302256" y="716534"/>
                  </a:lnTo>
                  <a:lnTo>
                    <a:pt x="362966" y="716534"/>
                  </a:lnTo>
                  <a:lnTo>
                    <a:pt x="362966" y="710184"/>
                  </a:lnTo>
                  <a:lnTo>
                    <a:pt x="362966" y="716534"/>
                  </a:lnTo>
                  <a:cubicBezTo>
                    <a:pt x="162560" y="716534"/>
                    <a:pt x="0" y="556260"/>
                    <a:pt x="0" y="358267"/>
                  </a:cubicBezTo>
                  <a:lnTo>
                    <a:pt x="6350" y="358267"/>
                  </a:lnTo>
                  <a:lnTo>
                    <a:pt x="0" y="358267"/>
                  </a:lnTo>
                  <a:moveTo>
                    <a:pt x="12700" y="358267"/>
                  </a:moveTo>
                  <a:lnTo>
                    <a:pt x="6350" y="358267"/>
                  </a:lnTo>
                  <a:lnTo>
                    <a:pt x="12700" y="358267"/>
                  </a:lnTo>
                  <a:cubicBezTo>
                    <a:pt x="12700" y="549021"/>
                    <a:pt x="169418" y="703834"/>
                    <a:pt x="362966" y="703834"/>
                  </a:cubicBezTo>
                  <a:lnTo>
                    <a:pt x="2302256" y="703834"/>
                  </a:lnTo>
                  <a:cubicBezTo>
                    <a:pt x="2495804" y="703834"/>
                    <a:pt x="2652522" y="549021"/>
                    <a:pt x="2652522" y="358267"/>
                  </a:cubicBezTo>
                  <a:cubicBezTo>
                    <a:pt x="2652522" y="167513"/>
                    <a:pt x="2495804" y="12700"/>
                    <a:pt x="2302256" y="12700"/>
                  </a:cubicBezTo>
                  <a:lnTo>
                    <a:pt x="362966" y="12700"/>
                  </a:lnTo>
                  <a:lnTo>
                    <a:pt x="362966" y="6350"/>
                  </a:lnTo>
                  <a:lnTo>
                    <a:pt x="362966" y="12700"/>
                  </a:lnTo>
                  <a:cubicBezTo>
                    <a:pt x="169418" y="12700"/>
                    <a:pt x="12700" y="167513"/>
                    <a:pt x="12700" y="358267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507752" y="1949348"/>
            <a:ext cx="1645596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75BAE6"/>
                </a:solidFill>
                <a:latin typeface="Montserrat"/>
                <a:ea typeface="Montserrat"/>
                <a:cs typeface="Montserrat"/>
                <a:sym typeface="Montserrat"/>
              </a:rPr>
              <a:t>DÉPLOIEMENT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890" y="2513857"/>
            <a:ext cx="9461154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Déploiement : les deux modes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8840" y="3829945"/>
            <a:ext cx="8098784" cy="3104998"/>
            <a:chOff x="0" y="0"/>
            <a:chExt cx="10798378" cy="4139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0747628" cy="4089146"/>
            </a:xfrm>
            <a:custGeom>
              <a:avLst/>
              <a:gdLst/>
              <a:ahLst/>
              <a:cxnLst/>
              <a:rect r="r" b="b" t="t" l="l"/>
              <a:pathLst>
                <a:path h="4089146" w="10747628">
                  <a:moveTo>
                    <a:pt x="0" y="541655"/>
                  </a:moveTo>
                  <a:cubicBezTo>
                    <a:pt x="0" y="242570"/>
                    <a:pt x="244348" y="0"/>
                    <a:pt x="545846" y="0"/>
                  </a:cubicBezTo>
                  <a:lnTo>
                    <a:pt x="10201783" y="0"/>
                  </a:lnTo>
                  <a:cubicBezTo>
                    <a:pt x="10503281" y="0"/>
                    <a:pt x="10747628" y="242570"/>
                    <a:pt x="10747628" y="541655"/>
                  </a:cubicBezTo>
                  <a:lnTo>
                    <a:pt x="10747628" y="3547491"/>
                  </a:lnTo>
                  <a:cubicBezTo>
                    <a:pt x="10747628" y="3846576"/>
                    <a:pt x="10503281" y="4089146"/>
                    <a:pt x="10201783" y="4089146"/>
                  </a:cubicBezTo>
                  <a:lnTo>
                    <a:pt x="545846" y="4089146"/>
                  </a:lnTo>
                  <a:cubicBezTo>
                    <a:pt x="244348" y="4089146"/>
                    <a:pt x="0" y="3846703"/>
                    <a:pt x="0" y="35474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98428" cy="4139946"/>
            </a:xfrm>
            <a:custGeom>
              <a:avLst/>
              <a:gdLst/>
              <a:ahLst/>
              <a:cxnLst/>
              <a:rect r="r" b="b" t="t" l="l"/>
              <a:pathLst>
                <a:path h="4139946" w="10798428">
                  <a:moveTo>
                    <a:pt x="0" y="567055"/>
                  </a:moveTo>
                  <a:cubicBezTo>
                    <a:pt x="0" y="253746"/>
                    <a:pt x="255905" y="0"/>
                    <a:pt x="571246" y="0"/>
                  </a:cubicBezTo>
                  <a:lnTo>
                    <a:pt x="10227183" y="0"/>
                  </a:lnTo>
                  <a:lnTo>
                    <a:pt x="10227183" y="25400"/>
                  </a:lnTo>
                  <a:lnTo>
                    <a:pt x="10227183" y="0"/>
                  </a:lnTo>
                  <a:cubicBezTo>
                    <a:pt x="10542524" y="0"/>
                    <a:pt x="10798428" y="253746"/>
                    <a:pt x="10798428" y="567055"/>
                  </a:cubicBezTo>
                  <a:lnTo>
                    <a:pt x="10773028" y="567055"/>
                  </a:lnTo>
                  <a:lnTo>
                    <a:pt x="10798428" y="567055"/>
                  </a:lnTo>
                  <a:lnTo>
                    <a:pt x="10798428" y="3572891"/>
                  </a:lnTo>
                  <a:lnTo>
                    <a:pt x="10773028" y="3572891"/>
                  </a:lnTo>
                  <a:lnTo>
                    <a:pt x="10798428" y="3572891"/>
                  </a:lnTo>
                  <a:cubicBezTo>
                    <a:pt x="10798428" y="3886200"/>
                    <a:pt x="10542524" y="4139946"/>
                    <a:pt x="10227183" y="4139946"/>
                  </a:cubicBezTo>
                  <a:lnTo>
                    <a:pt x="10227183" y="4114546"/>
                  </a:lnTo>
                  <a:lnTo>
                    <a:pt x="10227183" y="4139946"/>
                  </a:lnTo>
                  <a:lnTo>
                    <a:pt x="571246" y="4139946"/>
                  </a:lnTo>
                  <a:lnTo>
                    <a:pt x="571246" y="4114546"/>
                  </a:lnTo>
                  <a:lnTo>
                    <a:pt x="571246" y="4139946"/>
                  </a:lnTo>
                  <a:cubicBezTo>
                    <a:pt x="255905" y="4139946"/>
                    <a:pt x="0" y="3886327"/>
                    <a:pt x="0" y="3572891"/>
                  </a:cubicBezTo>
                  <a:lnTo>
                    <a:pt x="0" y="567055"/>
                  </a:lnTo>
                  <a:lnTo>
                    <a:pt x="25400" y="567055"/>
                  </a:lnTo>
                  <a:lnTo>
                    <a:pt x="0" y="567055"/>
                  </a:lnTo>
                  <a:moveTo>
                    <a:pt x="50800" y="567055"/>
                  </a:moveTo>
                  <a:lnTo>
                    <a:pt x="50800" y="3572891"/>
                  </a:lnTo>
                  <a:lnTo>
                    <a:pt x="25400" y="3572891"/>
                  </a:lnTo>
                  <a:lnTo>
                    <a:pt x="50800" y="3572891"/>
                  </a:lnTo>
                  <a:cubicBezTo>
                    <a:pt x="50800" y="3857879"/>
                    <a:pt x="283591" y="4089146"/>
                    <a:pt x="571246" y="4089146"/>
                  </a:cubicBezTo>
                  <a:lnTo>
                    <a:pt x="10227183" y="4089146"/>
                  </a:lnTo>
                  <a:cubicBezTo>
                    <a:pt x="10514838" y="4089146"/>
                    <a:pt x="10747628" y="3857879"/>
                    <a:pt x="10747628" y="3572891"/>
                  </a:cubicBezTo>
                  <a:lnTo>
                    <a:pt x="10747628" y="567055"/>
                  </a:lnTo>
                  <a:cubicBezTo>
                    <a:pt x="10747629" y="282067"/>
                    <a:pt x="10514711" y="50800"/>
                    <a:pt x="10227183" y="50800"/>
                  </a:cubicBezTo>
                  <a:lnTo>
                    <a:pt x="571246" y="50800"/>
                  </a:lnTo>
                  <a:lnTo>
                    <a:pt x="571246" y="25400"/>
                  </a:lnTo>
                  <a:lnTo>
                    <a:pt x="571246" y="50800"/>
                  </a:lnTo>
                  <a:cubicBezTo>
                    <a:pt x="283591" y="50800"/>
                    <a:pt x="50800" y="282067"/>
                    <a:pt x="50800" y="56705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5990" y="3887095"/>
            <a:ext cx="7984484" cy="812454"/>
            <a:chOff x="0" y="0"/>
            <a:chExt cx="10645978" cy="1083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46028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646028">
                  <a:moveTo>
                    <a:pt x="0" y="480695"/>
                  </a:moveTo>
                  <a:cubicBezTo>
                    <a:pt x="0" y="215265"/>
                    <a:pt x="215265" y="0"/>
                    <a:pt x="480695" y="0"/>
                  </a:cubicBezTo>
                  <a:lnTo>
                    <a:pt x="10165334" y="0"/>
                  </a:lnTo>
                  <a:cubicBezTo>
                    <a:pt x="10430764" y="0"/>
                    <a:pt x="10646028" y="215265"/>
                    <a:pt x="10646028" y="480695"/>
                  </a:cubicBezTo>
                  <a:lnTo>
                    <a:pt x="10646028" y="602615"/>
                  </a:lnTo>
                  <a:cubicBezTo>
                    <a:pt x="10646028" y="868045"/>
                    <a:pt x="10430764" y="1083310"/>
                    <a:pt x="10165334" y="1083310"/>
                  </a:cubicBezTo>
                  <a:lnTo>
                    <a:pt x="480695" y="1083310"/>
                  </a:lnTo>
                  <a:cubicBezTo>
                    <a:pt x="215265" y="1083310"/>
                    <a:pt x="0" y="868045"/>
                    <a:pt x="0" y="602615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6709" y="4941684"/>
            <a:ext cx="3716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Mode batch </a:t>
            </a:r>
            <a:r>
              <a:rPr lang="en-US" b="true" sz="2750" u="sng">
                <a:solidFill>
                  <a:srgbClr val="359DDF"/>
                </a:solidFill>
                <a:latin typeface="Barlow Bold"/>
                <a:ea typeface="Barlow Bold"/>
                <a:cs typeface="Barlow Bold"/>
                <a:sym typeface="Barlow Bold"/>
                <a:hlinkClick r:id="rId4" tooltip="http://predict.py"/>
              </a:rPr>
              <a:t>predict.py</a:t>
            </a: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6709" y="5501726"/>
            <a:ext cx="744304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CSV 100+ clients → pipeline → predictions.csv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6709" y="6097486"/>
            <a:ext cx="744304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Utilisation : service marketing, analyse hebdomadaire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60234" y="3829945"/>
            <a:ext cx="8098927" cy="3104998"/>
            <a:chOff x="0" y="0"/>
            <a:chExt cx="10798569" cy="41399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0747756" cy="4089146"/>
            </a:xfrm>
            <a:custGeom>
              <a:avLst/>
              <a:gdLst/>
              <a:ahLst/>
              <a:cxnLst/>
              <a:rect r="r" b="b" t="t" l="l"/>
              <a:pathLst>
                <a:path h="4089146" w="10747756">
                  <a:moveTo>
                    <a:pt x="0" y="541655"/>
                  </a:moveTo>
                  <a:cubicBezTo>
                    <a:pt x="0" y="242570"/>
                    <a:pt x="244348" y="0"/>
                    <a:pt x="545846" y="0"/>
                  </a:cubicBezTo>
                  <a:lnTo>
                    <a:pt x="10201910" y="0"/>
                  </a:lnTo>
                  <a:cubicBezTo>
                    <a:pt x="10503408" y="0"/>
                    <a:pt x="10747756" y="242570"/>
                    <a:pt x="10747756" y="541655"/>
                  </a:cubicBezTo>
                  <a:lnTo>
                    <a:pt x="10747756" y="3547491"/>
                  </a:lnTo>
                  <a:cubicBezTo>
                    <a:pt x="10747756" y="3846576"/>
                    <a:pt x="10503408" y="4089146"/>
                    <a:pt x="10201910" y="4089146"/>
                  </a:cubicBezTo>
                  <a:lnTo>
                    <a:pt x="545846" y="4089146"/>
                  </a:lnTo>
                  <a:cubicBezTo>
                    <a:pt x="244348" y="4089146"/>
                    <a:pt x="0" y="3846703"/>
                    <a:pt x="0" y="35474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98556" cy="4139946"/>
            </a:xfrm>
            <a:custGeom>
              <a:avLst/>
              <a:gdLst/>
              <a:ahLst/>
              <a:cxnLst/>
              <a:rect r="r" b="b" t="t" l="l"/>
              <a:pathLst>
                <a:path h="4139946" w="10798556">
                  <a:moveTo>
                    <a:pt x="0" y="567055"/>
                  </a:moveTo>
                  <a:cubicBezTo>
                    <a:pt x="0" y="253746"/>
                    <a:pt x="255905" y="0"/>
                    <a:pt x="571246" y="0"/>
                  </a:cubicBezTo>
                  <a:lnTo>
                    <a:pt x="10227310" y="0"/>
                  </a:lnTo>
                  <a:lnTo>
                    <a:pt x="10227310" y="25400"/>
                  </a:lnTo>
                  <a:lnTo>
                    <a:pt x="10227310" y="0"/>
                  </a:lnTo>
                  <a:cubicBezTo>
                    <a:pt x="10542651" y="0"/>
                    <a:pt x="10798556" y="253746"/>
                    <a:pt x="10798556" y="567055"/>
                  </a:cubicBezTo>
                  <a:lnTo>
                    <a:pt x="10773156" y="567055"/>
                  </a:lnTo>
                  <a:lnTo>
                    <a:pt x="10798556" y="567055"/>
                  </a:lnTo>
                  <a:lnTo>
                    <a:pt x="10798556" y="3572891"/>
                  </a:lnTo>
                  <a:lnTo>
                    <a:pt x="10773156" y="3572891"/>
                  </a:lnTo>
                  <a:lnTo>
                    <a:pt x="10798556" y="3572891"/>
                  </a:lnTo>
                  <a:cubicBezTo>
                    <a:pt x="10798556" y="3886200"/>
                    <a:pt x="10542651" y="4139946"/>
                    <a:pt x="10227310" y="4139946"/>
                  </a:cubicBezTo>
                  <a:lnTo>
                    <a:pt x="10227310" y="4114546"/>
                  </a:lnTo>
                  <a:lnTo>
                    <a:pt x="10227310" y="4139946"/>
                  </a:lnTo>
                  <a:lnTo>
                    <a:pt x="571246" y="4139946"/>
                  </a:lnTo>
                  <a:lnTo>
                    <a:pt x="571246" y="4114546"/>
                  </a:lnTo>
                  <a:lnTo>
                    <a:pt x="571246" y="4139946"/>
                  </a:lnTo>
                  <a:cubicBezTo>
                    <a:pt x="255905" y="4139946"/>
                    <a:pt x="0" y="3886327"/>
                    <a:pt x="0" y="3572891"/>
                  </a:cubicBezTo>
                  <a:lnTo>
                    <a:pt x="0" y="567055"/>
                  </a:lnTo>
                  <a:lnTo>
                    <a:pt x="25400" y="567055"/>
                  </a:lnTo>
                  <a:lnTo>
                    <a:pt x="0" y="567055"/>
                  </a:lnTo>
                  <a:moveTo>
                    <a:pt x="50800" y="567055"/>
                  </a:moveTo>
                  <a:lnTo>
                    <a:pt x="50800" y="3572891"/>
                  </a:lnTo>
                  <a:lnTo>
                    <a:pt x="25400" y="3572891"/>
                  </a:lnTo>
                  <a:lnTo>
                    <a:pt x="50800" y="3572891"/>
                  </a:lnTo>
                  <a:cubicBezTo>
                    <a:pt x="50800" y="3857879"/>
                    <a:pt x="283591" y="4089146"/>
                    <a:pt x="571246" y="4089146"/>
                  </a:cubicBezTo>
                  <a:lnTo>
                    <a:pt x="10227310" y="4089146"/>
                  </a:lnTo>
                  <a:cubicBezTo>
                    <a:pt x="10514965" y="4089146"/>
                    <a:pt x="10747756" y="3857879"/>
                    <a:pt x="10747756" y="3572891"/>
                  </a:cubicBezTo>
                  <a:lnTo>
                    <a:pt x="10747756" y="567055"/>
                  </a:lnTo>
                  <a:cubicBezTo>
                    <a:pt x="10747756" y="282067"/>
                    <a:pt x="10514965" y="50800"/>
                    <a:pt x="10227310" y="50800"/>
                  </a:cubicBezTo>
                  <a:lnTo>
                    <a:pt x="571246" y="50800"/>
                  </a:lnTo>
                  <a:lnTo>
                    <a:pt x="571246" y="25400"/>
                  </a:lnTo>
                  <a:lnTo>
                    <a:pt x="571246" y="50800"/>
                  </a:lnTo>
                  <a:cubicBezTo>
                    <a:pt x="283591" y="50800"/>
                    <a:pt x="50800" y="282067"/>
                    <a:pt x="50800" y="56705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17384" y="3887095"/>
            <a:ext cx="7984627" cy="812454"/>
            <a:chOff x="0" y="0"/>
            <a:chExt cx="10646169" cy="10832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46156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646156">
                  <a:moveTo>
                    <a:pt x="0" y="480695"/>
                  </a:moveTo>
                  <a:cubicBezTo>
                    <a:pt x="0" y="215265"/>
                    <a:pt x="215265" y="0"/>
                    <a:pt x="480695" y="0"/>
                  </a:cubicBezTo>
                  <a:lnTo>
                    <a:pt x="10165461" y="0"/>
                  </a:lnTo>
                  <a:cubicBezTo>
                    <a:pt x="10430891" y="0"/>
                    <a:pt x="10646156" y="215265"/>
                    <a:pt x="10646156" y="480695"/>
                  </a:cubicBezTo>
                  <a:lnTo>
                    <a:pt x="10646156" y="602615"/>
                  </a:lnTo>
                  <a:cubicBezTo>
                    <a:pt x="10646156" y="868045"/>
                    <a:pt x="10430891" y="1083310"/>
                    <a:pt x="10165461" y="1083310"/>
                  </a:cubicBezTo>
                  <a:lnTo>
                    <a:pt x="480695" y="1083310"/>
                  </a:lnTo>
                  <a:cubicBezTo>
                    <a:pt x="215265" y="1083310"/>
                    <a:pt x="0" y="868045"/>
                    <a:pt x="0" y="602615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88103" y="4941684"/>
            <a:ext cx="383143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Mode web </a:t>
            </a:r>
            <a:r>
              <a:rPr lang="en-US" b="true" sz="2750" u="sng">
                <a:solidFill>
                  <a:srgbClr val="359DDF"/>
                </a:solidFill>
                <a:latin typeface="Barlow Bold"/>
                <a:ea typeface="Barlow Bold"/>
                <a:cs typeface="Barlow Bold"/>
                <a:sym typeface="Barlow Bold"/>
                <a:hlinkClick r:id="rId5" tooltip="http://app.py"/>
              </a:rPr>
              <a:t>app.py</a:t>
            </a: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 Flask 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88103" y="5501726"/>
            <a:ext cx="744319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Formulaire 1 client → pipeline → résultat en temps réel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88103" y="6097486"/>
            <a:ext cx="744319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Utilisation : conseiller clientèle, test immédiat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7890" y="7220541"/>
            <a:ext cx="16392230" cy="1150591"/>
            <a:chOff x="0" y="0"/>
            <a:chExt cx="21856306" cy="15341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856319" cy="1534160"/>
            </a:xfrm>
            <a:custGeom>
              <a:avLst/>
              <a:gdLst/>
              <a:ahLst/>
              <a:cxnLst/>
              <a:rect r="r" b="b" t="t" l="l"/>
              <a:pathLst>
                <a:path h="1534160" w="21856319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lnTo>
                    <a:pt x="21314663" y="0"/>
                  </a:lnTo>
                  <a:cubicBezTo>
                    <a:pt x="21613749" y="0"/>
                    <a:pt x="21856319" y="242443"/>
                    <a:pt x="21856319" y="541655"/>
                  </a:cubicBezTo>
                  <a:lnTo>
                    <a:pt x="21856319" y="992505"/>
                  </a:lnTo>
                  <a:cubicBezTo>
                    <a:pt x="21856319" y="1291590"/>
                    <a:pt x="21613876" y="1534160"/>
                    <a:pt x="21314663" y="1534160"/>
                  </a:cubicBezTo>
                  <a:lnTo>
                    <a:pt x="541655" y="1534160"/>
                  </a:lnTo>
                  <a:cubicBezTo>
                    <a:pt x="242443" y="1534160"/>
                    <a:pt x="0" y="1291590"/>
                    <a:pt x="0" y="992505"/>
                  </a:cubicBezTo>
                  <a:close/>
                </a:path>
              </a:pathLst>
            </a:custGeom>
            <a:solidFill>
              <a:srgbClr val="BEDFF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8609" y="7636221"/>
            <a:ext cx="338433" cy="270720"/>
            <a:chOff x="0" y="0"/>
            <a:chExt cx="451244" cy="360959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51231" cy="360934"/>
            </a:xfrm>
            <a:custGeom>
              <a:avLst/>
              <a:gdLst/>
              <a:ahLst/>
              <a:cxnLst/>
              <a:rect r="r" b="b" t="t" l="l"/>
              <a:pathLst>
                <a:path h="360934" w="451231">
                  <a:moveTo>
                    <a:pt x="0" y="0"/>
                  </a:moveTo>
                  <a:lnTo>
                    <a:pt x="451231" y="0"/>
                  </a:lnTo>
                  <a:lnTo>
                    <a:pt x="451231" y="360934"/>
                  </a:lnTo>
                  <a:lnTo>
                    <a:pt x="0" y="360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24" t="0" r="-1424" b="-7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827762" y="7482630"/>
            <a:ext cx="15241638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Les 3 fichiers pkl : rôle de chacun dans la chaîne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9266" y="898322"/>
            <a:ext cx="4464691" cy="426396"/>
            <a:chOff x="0" y="0"/>
            <a:chExt cx="5952922" cy="568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52871" cy="568452"/>
            </a:xfrm>
            <a:custGeom>
              <a:avLst/>
              <a:gdLst/>
              <a:ahLst/>
              <a:cxnLst/>
              <a:rect r="r" b="b" t="t" l="l"/>
              <a:pathLst>
                <a:path h="568452" w="5952871">
                  <a:moveTo>
                    <a:pt x="0" y="284226"/>
                  </a:moveTo>
                  <a:cubicBezTo>
                    <a:pt x="0" y="127254"/>
                    <a:pt x="127254" y="0"/>
                    <a:pt x="284226" y="0"/>
                  </a:cubicBezTo>
                  <a:lnTo>
                    <a:pt x="5668645" y="0"/>
                  </a:lnTo>
                  <a:cubicBezTo>
                    <a:pt x="5825617" y="0"/>
                    <a:pt x="5952871" y="127254"/>
                    <a:pt x="5952871" y="284226"/>
                  </a:cubicBezTo>
                  <a:cubicBezTo>
                    <a:pt x="5952871" y="441198"/>
                    <a:pt x="5825617" y="568452"/>
                    <a:pt x="5668645" y="568452"/>
                  </a:cubicBezTo>
                  <a:lnTo>
                    <a:pt x="284226" y="568452"/>
                  </a:lnTo>
                  <a:cubicBezTo>
                    <a:pt x="127254" y="568579"/>
                    <a:pt x="0" y="441198"/>
                    <a:pt x="0" y="284226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14978" y="1543641"/>
            <a:ext cx="16658034" cy="3224660"/>
            <a:chOff x="0" y="0"/>
            <a:chExt cx="22210712" cy="42995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22172676" cy="4261485"/>
            </a:xfrm>
            <a:custGeom>
              <a:avLst/>
              <a:gdLst/>
              <a:ahLst/>
              <a:cxnLst/>
              <a:rect r="r" b="b" t="t" l="l"/>
              <a:pathLst>
                <a:path h="4261485" w="22172676">
                  <a:moveTo>
                    <a:pt x="0" y="473964"/>
                  </a:moveTo>
                  <a:cubicBezTo>
                    <a:pt x="0" y="212217"/>
                    <a:pt x="213741" y="0"/>
                    <a:pt x="477393" y="0"/>
                  </a:cubicBezTo>
                  <a:lnTo>
                    <a:pt x="21695282" y="0"/>
                  </a:lnTo>
                  <a:cubicBezTo>
                    <a:pt x="21958934" y="0"/>
                    <a:pt x="22172676" y="212217"/>
                    <a:pt x="22172676" y="473964"/>
                  </a:cubicBezTo>
                  <a:lnTo>
                    <a:pt x="22172676" y="3787521"/>
                  </a:lnTo>
                  <a:cubicBezTo>
                    <a:pt x="22172676" y="4049268"/>
                    <a:pt x="21958934" y="4261485"/>
                    <a:pt x="21695282" y="4261485"/>
                  </a:cubicBezTo>
                  <a:lnTo>
                    <a:pt x="477393" y="4261485"/>
                  </a:lnTo>
                  <a:cubicBezTo>
                    <a:pt x="213741" y="4261485"/>
                    <a:pt x="0" y="4049268"/>
                    <a:pt x="0" y="37875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10776" cy="4299585"/>
            </a:xfrm>
            <a:custGeom>
              <a:avLst/>
              <a:gdLst/>
              <a:ahLst/>
              <a:cxnLst/>
              <a:rect r="r" b="b" t="t" l="l"/>
              <a:pathLst>
                <a:path h="4299585" w="22210776">
                  <a:moveTo>
                    <a:pt x="0" y="493014"/>
                  </a:moveTo>
                  <a:cubicBezTo>
                    <a:pt x="0" y="220599"/>
                    <a:pt x="222377" y="0"/>
                    <a:pt x="496443" y="0"/>
                  </a:cubicBezTo>
                  <a:lnTo>
                    <a:pt x="21714332" y="0"/>
                  </a:lnTo>
                  <a:lnTo>
                    <a:pt x="21714332" y="19050"/>
                  </a:lnTo>
                  <a:lnTo>
                    <a:pt x="21714332" y="0"/>
                  </a:lnTo>
                  <a:cubicBezTo>
                    <a:pt x="21988399" y="0"/>
                    <a:pt x="22210776" y="220599"/>
                    <a:pt x="22210776" y="493014"/>
                  </a:cubicBezTo>
                  <a:lnTo>
                    <a:pt x="22191726" y="493014"/>
                  </a:lnTo>
                  <a:lnTo>
                    <a:pt x="22210776" y="493014"/>
                  </a:lnTo>
                  <a:lnTo>
                    <a:pt x="22210776" y="3806571"/>
                  </a:lnTo>
                  <a:lnTo>
                    <a:pt x="22191726" y="3806571"/>
                  </a:lnTo>
                  <a:lnTo>
                    <a:pt x="22210776" y="3806571"/>
                  </a:lnTo>
                  <a:cubicBezTo>
                    <a:pt x="22210776" y="4078986"/>
                    <a:pt x="21988399" y="4299585"/>
                    <a:pt x="21714332" y="4299585"/>
                  </a:cubicBezTo>
                  <a:lnTo>
                    <a:pt x="21714332" y="4280535"/>
                  </a:lnTo>
                  <a:lnTo>
                    <a:pt x="21714332" y="4299585"/>
                  </a:lnTo>
                  <a:lnTo>
                    <a:pt x="496443" y="4299585"/>
                  </a:lnTo>
                  <a:lnTo>
                    <a:pt x="496443" y="4280535"/>
                  </a:lnTo>
                  <a:lnTo>
                    <a:pt x="496443" y="4299585"/>
                  </a:lnTo>
                  <a:cubicBezTo>
                    <a:pt x="222377" y="4299585"/>
                    <a:pt x="0" y="4078986"/>
                    <a:pt x="0" y="3806571"/>
                  </a:cubicBezTo>
                  <a:lnTo>
                    <a:pt x="0" y="493014"/>
                  </a:lnTo>
                  <a:lnTo>
                    <a:pt x="19050" y="493014"/>
                  </a:lnTo>
                  <a:lnTo>
                    <a:pt x="0" y="493014"/>
                  </a:lnTo>
                  <a:moveTo>
                    <a:pt x="38100" y="493014"/>
                  </a:moveTo>
                  <a:lnTo>
                    <a:pt x="38100" y="3806571"/>
                  </a:lnTo>
                  <a:lnTo>
                    <a:pt x="19050" y="3806571"/>
                  </a:lnTo>
                  <a:lnTo>
                    <a:pt x="38100" y="3806571"/>
                  </a:lnTo>
                  <a:cubicBezTo>
                    <a:pt x="38100" y="4057650"/>
                    <a:pt x="243205" y="4261485"/>
                    <a:pt x="496443" y="4261485"/>
                  </a:cubicBezTo>
                  <a:lnTo>
                    <a:pt x="21714332" y="4261485"/>
                  </a:lnTo>
                  <a:cubicBezTo>
                    <a:pt x="21967571" y="4261485"/>
                    <a:pt x="22172676" y="4057650"/>
                    <a:pt x="22172676" y="3806571"/>
                  </a:cubicBezTo>
                  <a:lnTo>
                    <a:pt x="22172676" y="493014"/>
                  </a:lnTo>
                  <a:cubicBezTo>
                    <a:pt x="22172676" y="241935"/>
                    <a:pt x="21967571" y="38100"/>
                    <a:pt x="21714332" y="38100"/>
                  </a:cubicBezTo>
                  <a:lnTo>
                    <a:pt x="496443" y="38100"/>
                  </a:lnTo>
                  <a:lnTo>
                    <a:pt x="496443" y="19050"/>
                  </a:lnTo>
                  <a:lnTo>
                    <a:pt x="496443" y="38100"/>
                  </a:lnTo>
                  <a:cubicBezTo>
                    <a:pt x="243205" y="38100"/>
                    <a:pt x="38100" y="241935"/>
                    <a:pt x="38100" y="4930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841" y="1586503"/>
            <a:ext cx="947890" cy="3138935"/>
            <a:chOff x="0" y="0"/>
            <a:chExt cx="1263853" cy="41852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3904" cy="4185285"/>
            </a:xfrm>
            <a:custGeom>
              <a:avLst/>
              <a:gdLst/>
              <a:ahLst/>
              <a:cxnLst/>
              <a:rect r="r" b="b" t="t" l="l"/>
              <a:pathLst>
                <a:path h="4185285" w="1263904">
                  <a:moveTo>
                    <a:pt x="0" y="428244"/>
                  </a:moveTo>
                  <a:cubicBezTo>
                    <a:pt x="0" y="191770"/>
                    <a:pt x="191770" y="0"/>
                    <a:pt x="428244" y="0"/>
                  </a:cubicBezTo>
                  <a:lnTo>
                    <a:pt x="835660" y="0"/>
                  </a:lnTo>
                  <a:cubicBezTo>
                    <a:pt x="1072134" y="0"/>
                    <a:pt x="1263904" y="191770"/>
                    <a:pt x="1263904" y="428244"/>
                  </a:cubicBezTo>
                  <a:lnTo>
                    <a:pt x="1263904" y="3757041"/>
                  </a:lnTo>
                  <a:cubicBezTo>
                    <a:pt x="1263904" y="3993515"/>
                    <a:pt x="1072134" y="4185285"/>
                    <a:pt x="835660" y="4185285"/>
                  </a:cubicBezTo>
                  <a:lnTo>
                    <a:pt x="428244" y="4185285"/>
                  </a:lnTo>
                  <a:cubicBezTo>
                    <a:pt x="191770" y="4185285"/>
                    <a:pt x="0" y="3993515"/>
                    <a:pt x="0" y="3757041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013052" y="1804397"/>
            <a:ext cx="4497143" cy="40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Récap du pipeline en une image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3052" y="2299249"/>
            <a:ext cx="15180173" cy="218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7"/>
              </a:lnSpc>
            </a:pPr>
            <a:r>
              <a:rPr lang="en-US" sz="674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Données → Nettoyage → Scaling → PCA → RandomForest → 97% accuracy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4978" y="4947047"/>
            <a:ext cx="16658034" cy="1486491"/>
            <a:chOff x="0" y="0"/>
            <a:chExt cx="22210712" cy="19819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22172549" cy="1943989"/>
            </a:xfrm>
            <a:custGeom>
              <a:avLst/>
              <a:gdLst/>
              <a:ahLst/>
              <a:cxnLst/>
              <a:rect r="r" b="b" t="t" l="l"/>
              <a:pathLst>
                <a:path h="1943989" w="22172549">
                  <a:moveTo>
                    <a:pt x="0" y="473964"/>
                  </a:moveTo>
                  <a:cubicBezTo>
                    <a:pt x="0" y="212217"/>
                    <a:pt x="216027" y="0"/>
                    <a:pt x="482346" y="0"/>
                  </a:cubicBezTo>
                  <a:lnTo>
                    <a:pt x="21690203" y="0"/>
                  </a:lnTo>
                  <a:cubicBezTo>
                    <a:pt x="21956649" y="0"/>
                    <a:pt x="22172549" y="212217"/>
                    <a:pt x="22172549" y="473964"/>
                  </a:cubicBezTo>
                  <a:lnTo>
                    <a:pt x="22172549" y="1470025"/>
                  </a:lnTo>
                  <a:cubicBezTo>
                    <a:pt x="22172549" y="1731772"/>
                    <a:pt x="21956522" y="1943989"/>
                    <a:pt x="21690203" y="1943989"/>
                  </a:cubicBezTo>
                  <a:lnTo>
                    <a:pt x="482346" y="1943989"/>
                  </a:lnTo>
                  <a:cubicBezTo>
                    <a:pt x="215900" y="1943989"/>
                    <a:pt x="0" y="1731772"/>
                    <a:pt x="0" y="14700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10649" cy="1982089"/>
            </a:xfrm>
            <a:custGeom>
              <a:avLst/>
              <a:gdLst/>
              <a:ahLst/>
              <a:cxnLst/>
              <a:rect r="r" b="b" t="t" l="l"/>
              <a:pathLst>
                <a:path h="1982089" w="22210649">
                  <a:moveTo>
                    <a:pt x="0" y="493014"/>
                  </a:moveTo>
                  <a:cubicBezTo>
                    <a:pt x="0" y="220345"/>
                    <a:pt x="224790" y="0"/>
                    <a:pt x="501396" y="0"/>
                  </a:cubicBezTo>
                  <a:lnTo>
                    <a:pt x="21709253" y="0"/>
                  </a:lnTo>
                  <a:lnTo>
                    <a:pt x="21709253" y="19050"/>
                  </a:lnTo>
                  <a:lnTo>
                    <a:pt x="21709253" y="0"/>
                  </a:lnTo>
                  <a:cubicBezTo>
                    <a:pt x="21985860" y="0"/>
                    <a:pt x="22210649" y="220345"/>
                    <a:pt x="22210649" y="493014"/>
                  </a:cubicBezTo>
                  <a:lnTo>
                    <a:pt x="22191599" y="493014"/>
                  </a:lnTo>
                  <a:lnTo>
                    <a:pt x="22210649" y="493014"/>
                  </a:lnTo>
                  <a:lnTo>
                    <a:pt x="22210649" y="1489075"/>
                  </a:lnTo>
                  <a:lnTo>
                    <a:pt x="22191599" y="1489075"/>
                  </a:lnTo>
                  <a:lnTo>
                    <a:pt x="22210649" y="1489075"/>
                  </a:lnTo>
                  <a:cubicBezTo>
                    <a:pt x="22210649" y="1761617"/>
                    <a:pt x="21985860" y="1982089"/>
                    <a:pt x="21709253" y="1982089"/>
                  </a:cubicBezTo>
                  <a:lnTo>
                    <a:pt x="21709253" y="1963039"/>
                  </a:lnTo>
                  <a:lnTo>
                    <a:pt x="21709253" y="1982089"/>
                  </a:lnTo>
                  <a:lnTo>
                    <a:pt x="501396" y="1982089"/>
                  </a:lnTo>
                  <a:lnTo>
                    <a:pt x="501396" y="1963039"/>
                  </a:lnTo>
                  <a:lnTo>
                    <a:pt x="501396" y="1982089"/>
                  </a:lnTo>
                  <a:cubicBezTo>
                    <a:pt x="224790" y="1981962"/>
                    <a:pt x="0" y="1761617"/>
                    <a:pt x="0" y="1488948"/>
                  </a:cubicBezTo>
                  <a:lnTo>
                    <a:pt x="0" y="493014"/>
                  </a:lnTo>
                  <a:lnTo>
                    <a:pt x="19050" y="493014"/>
                  </a:lnTo>
                  <a:lnTo>
                    <a:pt x="0" y="493014"/>
                  </a:lnTo>
                  <a:moveTo>
                    <a:pt x="38100" y="493014"/>
                  </a:moveTo>
                  <a:lnTo>
                    <a:pt x="38100" y="1489075"/>
                  </a:lnTo>
                  <a:lnTo>
                    <a:pt x="19050" y="1489075"/>
                  </a:lnTo>
                  <a:lnTo>
                    <a:pt x="38100" y="1489075"/>
                  </a:lnTo>
                  <a:cubicBezTo>
                    <a:pt x="38100" y="1739900"/>
                    <a:pt x="245237" y="1943862"/>
                    <a:pt x="501396" y="1943862"/>
                  </a:cubicBezTo>
                  <a:lnTo>
                    <a:pt x="21709253" y="1943862"/>
                  </a:lnTo>
                  <a:cubicBezTo>
                    <a:pt x="21965413" y="1943862"/>
                    <a:pt x="22172549" y="1739900"/>
                    <a:pt x="22172549" y="1488948"/>
                  </a:cubicBezTo>
                  <a:lnTo>
                    <a:pt x="22172549" y="493014"/>
                  </a:lnTo>
                  <a:cubicBezTo>
                    <a:pt x="22172549" y="242062"/>
                    <a:pt x="21965413" y="38100"/>
                    <a:pt x="21709253" y="38100"/>
                  </a:cubicBezTo>
                  <a:lnTo>
                    <a:pt x="501396" y="38100"/>
                  </a:lnTo>
                  <a:lnTo>
                    <a:pt x="501396" y="19050"/>
                  </a:lnTo>
                  <a:lnTo>
                    <a:pt x="501396" y="38100"/>
                  </a:lnTo>
                  <a:cubicBezTo>
                    <a:pt x="245237" y="38100"/>
                    <a:pt x="38100" y="242062"/>
                    <a:pt x="38100" y="4930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841" y="4989909"/>
            <a:ext cx="947890" cy="1400766"/>
            <a:chOff x="0" y="0"/>
            <a:chExt cx="1263853" cy="18676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3904" cy="1867662"/>
            </a:xfrm>
            <a:custGeom>
              <a:avLst/>
              <a:gdLst/>
              <a:ahLst/>
              <a:cxnLst/>
              <a:rect r="r" b="b" t="t" l="l"/>
              <a:pathLst>
                <a:path h="1867662" w="1263904">
                  <a:moveTo>
                    <a:pt x="0" y="428244"/>
                  </a:moveTo>
                  <a:cubicBezTo>
                    <a:pt x="0" y="191770"/>
                    <a:pt x="191770" y="0"/>
                    <a:pt x="428244" y="0"/>
                  </a:cubicBezTo>
                  <a:lnTo>
                    <a:pt x="835660" y="0"/>
                  </a:lnTo>
                  <a:cubicBezTo>
                    <a:pt x="1072134" y="0"/>
                    <a:pt x="1263904" y="191770"/>
                    <a:pt x="1263904" y="428244"/>
                  </a:cubicBezTo>
                  <a:lnTo>
                    <a:pt x="1263904" y="1439418"/>
                  </a:lnTo>
                  <a:cubicBezTo>
                    <a:pt x="1263904" y="1675892"/>
                    <a:pt x="1072134" y="1867662"/>
                    <a:pt x="835660" y="1867662"/>
                  </a:cubicBezTo>
                  <a:lnTo>
                    <a:pt x="428244" y="1867662"/>
                  </a:lnTo>
                  <a:cubicBezTo>
                    <a:pt x="191770" y="1867662"/>
                    <a:pt x="0" y="1676019"/>
                    <a:pt x="0" y="1439418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013052" y="5226844"/>
            <a:ext cx="15180173" cy="926897"/>
            <a:chOff x="0" y="0"/>
            <a:chExt cx="20240231" cy="12358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240244" cy="1235837"/>
            </a:xfrm>
            <a:custGeom>
              <a:avLst/>
              <a:gdLst/>
              <a:ahLst/>
              <a:cxnLst/>
              <a:rect r="r" b="b" t="t" l="l"/>
              <a:pathLst>
                <a:path h="1235837" w="20240244">
                  <a:moveTo>
                    <a:pt x="0" y="473964"/>
                  </a:moveTo>
                  <a:cubicBezTo>
                    <a:pt x="0" y="212217"/>
                    <a:pt x="212217" y="0"/>
                    <a:pt x="473964" y="0"/>
                  </a:cubicBezTo>
                  <a:lnTo>
                    <a:pt x="19766280" y="0"/>
                  </a:lnTo>
                  <a:cubicBezTo>
                    <a:pt x="20028027" y="0"/>
                    <a:pt x="20240244" y="212217"/>
                    <a:pt x="20240244" y="473964"/>
                  </a:cubicBezTo>
                  <a:lnTo>
                    <a:pt x="20240244" y="761873"/>
                  </a:lnTo>
                  <a:cubicBezTo>
                    <a:pt x="20240244" y="1023620"/>
                    <a:pt x="20028027" y="1235837"/>
                    <a:pt x="19766280" y="1235837"/>
                  </a:cubicBezTo>
                  <a:lnTo>
                    <a:pt x="473964" y="1235837"/>
                  </a:lnTo>
                  <a:cubicBezTo>
                    <a:pt x="212217" y="1235837"/>
                    <a:pt x="0" y="1023620"/>
                    <a:pt x="0" y="761873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249986" y="5572868"/>
            <a:ext cx="296170" cy="236934"/>
            <a:chOff x="0" y="0"/>
            <a:chExt cx="394894" cy="315912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394843" cy="315976"/>
            </a:xfrm>
            <a:custGeom>
              <a:avLst/>
              <a:gdLst/>
              <a:ahLst/>
              <a:cxnLst/>
              <a:rect r="r" b="b" t="t" l="l"/>
              <a:pathLst>
                <a:path h="315976" w="394843">
                  <a:moveTo>
                    <a:pt x="0" y="0"/>
                  </a:moveTo>
                  <a:lnTo>
                    <a:pt x="394843" y="0"/>
                  </a:lnTo>
                  <a:lnTo>
                    <a:pt x="394843" y="315976"/>
                  </a:lnTo>
                  <a:lnTo>
                    <a:pt x="0" y="315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1" r="-12" b="-38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783091" y="5436241"/>
            <a:ext cx="14173200" cy="41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8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 que le projet apporte : outil opérationnel prêt à déployer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14978" y="6612284"/>
            <a:ext cx="16658034" cy="2790530"/>
            <a:chOff x="0" y="0"/>
            <a:chExt cx="22210712" cy="37207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9050" y="19050"/>
              <a:ext cx="22172549" cy="3682619"/>
            </a:xfrm>
            <a:custGeom>
              <a:avLst/>
              <a:gdLst/>
              <a:ahLst/>
              <a:cxnLst/>
              <a:rect r="r" b="b" t="t" l="l"/>
              <a:pathLst>
                <a:path h="3682619" w="22172549">
                  <a:moveTo>
                    <a:pt x="0" y="473964"/>
                  </a:moveTo>
                  <a:cubicBezTo>
                    <a:pt x="0" y="212217"/>
                    <a:pt x="213995" y="0"/>
                    <a:pt x="478028" y="0"/>
                  </a:cubicBezTo>
                  <a:lnTo>
                    <a:pt x="21694521" y="0"/>
                  </a:lnTo>
                  <a:cubicBezTo>
                    <a:pt x="21958554" y="0"/>
                    <a:pt x="22172549" y="212217"/>
                    <a:pt x="22172549" y="473964"/>
                  </a:cubicBezTo>
                  <a:lnTo>
                    <a:pt x="22172549" y="3208655"/>
                  </a:lnTo>
                  <a:cubicBezTo>
                    <a:pt x="22172549" y="3470402"/>
                    <a:pt x="21958554" y="3682619"/>
                    <a:pt x="21694521" y="3682619"/>
                  </a:cubicBezTo>
                  <a:lnTo>
                    <a:pt x="478028" y="3682619"/>
                  </a:lnTo>
                  <a:cubicBezTo>
                    <a:pt x="213995" y="3682619"/>
                    <a:pt x="0" y="3470402"/>
                    <a:pt x="0" y="32086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10649" cy="3720719"/>
            </a:xfrm>
            <a:custGeom>
              <a:avLst/>
              <a:gdLst/>
              <a:ahLst/>
              <a:cxnLst/>
              <a:rect r="r" b="b" t="t" l="l"/>
              <a:pathLst>
                <a:path h="3720719" w="22210649">
                  <a:moveTo>
                    <a:pt x="0" y="493014"/>
                  </a:moveTo>
                  <a:cubicBezTo>
                    <a:pt x="0" y="220599"/>
                    <a:pt x="222758" y="0"/>
                    <a:pt x="497078" y="0"/>
                  </a:cubicBezTo>
                  <a:lnTo>
                    <a:pt x="21713571" y="0"/>
                  </a:lnTo>
                  <a:lnTo>
                    <a:pt x="21713571" y="19050"/>
                  </a:lnTo>
                  <a:lnTo>
                    <a:pt x="21713571" y="0"/>
                  </a:lnTo>
                  <a:cubicBezTo>
                    <a:pt x="21987890" y="0"/>
                    <a:pt x="22210649" y="220599"/>
                    <a:pt x="22210649" y="493014"/>
                  </a:cubicBezTo>
                  <a:lnTo>
                    <a:pt x="22191599" y="493014"/>
                  </a:lnTo>
                  <a:lnTo>
                    <a:pt x="22210649" y="493014"/>
                  </a:lnTo>
                  <a:lnTo>
                    <a:pt x="22210649" y="3227705"/>
                  </a:lnTo>
                  <a:lnTo>
                    <a:pt x="22191599" y="3227705"/>
                  </a:lnTo>
                  <a:lnTo>
                    <a:pt x="22210649" y="3227705"/>
                  </a:lnTo>
                  <a:cubicBezTo>
                    <a:pt x="22210649" y="3500120"/>
                    <a:pt x="21987890" y="3720719"/>
                    <a:pt x="21713571" y="3720719"/>
                  </a:cubicBezTo>
                  <a:lnTo>
                    <a:pt x="21713571" y="3701669"/>
                  </a:lnTo>
                  <a:lnTo>
                    <a:pt x="21713571" y="3720719"/>
                  </a:lnTo>
                  <a:lnTo>
                    <a:pt x="497078" y="3720719"/>
                  </a:lnTo>
                  <a:lnTo>
                    <a:pt x="497078" y="3701669"/>
                  </a:lnTo>
                  <a:lnTo>
                    <a:pt x="497078" y="3720719"/>
                  </a:lnTo>
                  <a:cubicBezTo>
                    <a:pt x="222758" y="3720719"/>
                    <a:pt x="0" y="3500120"/>
                    <a:pt x="0" y="3227705"/>
                  </a:cubicBezTo>
                  <a:lnTo>
                    <a:pt x="0" y="493014"/>
                  </a:lnTo>
                  <a:lnTo>
                    <a:pt x="19050" y="493014"/>
                  </a:lnTo>
                  <a:lnTo>
                    <a:pt x="0" y="493014"/>
                  </a:lnTo>
                  <a:moveTo>
                    <a:pt x="38100" y="493014"/>
                  </a:moveTo>
                  <a:lnTo>
                    <a:pt x="38100" y="3227705"/>
                  </a:lnTo>
                  <a:lnTo>
                    <a:pt x="19050" y="3227705"/>
                  </a:lnTo>
                  <a:lnTo>
                    <a:pt x="38100" y="3227705"/>
                  </a:lnTo>
                  <a:cubicBezTo>
                    <a:pt x="38100" y="3478784"/>
                    <a:pt x="243459" y="3682619"/>
                    <a:pt x="497078" y="3682619"/>
                  </a:cubicBezTo>
                  <a:lnTo>
                    <a:pt x="21713571" y="3682619"/>
                  </a:lnTo>
                  <a:cubicBezTo>
                    <a:pt x="21967189" y="3682619"/>
                    <a:pt x="22172549" y="3478784"/>
                    <a:pt x="22172549" y="3227705"/>
                  </a:cubicBezTo>
                  <a:lnTo>
                    <a:pt x="22172549" y="493014"/>
                  </a:lnTo>
                  <a:cubicBezTo>
                    <a:pt x="22172549" y="241935"/>
                    <a:pt x="21967189" y="38100"/>
                    <a:pt x="21713571" y="38100"/>
                  </a:cubicBezTo>
                  <a:lnTo>
                    <a:pt x="497078" y="38100"/>
                  </a:lnTo>
                  <a:lnTo>
                    <a:pt x="497078" y="19050"/>
                  </a:lnTo>
                  <a:lnTo>
                    <a:pt x="497078" y="38100"/>
                  </a:lnTo>
                  <a:cubicBezTo>
                    <a:pt x="243459" y="38100"/>
                    <a:pt x="38100" y="241935"/>
                    <a:pt x="38100" y="493014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57841" y="6655146"/>
            <a:ext cx="947890" cy="2704805"/>
            <a:chOff x="0" y="0"/>
            <a:chExt cx="1263853" cy="36064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3904" cy="3606419"/>
            </a:xfrm>
            <a:custGeom>
              <a:avLst/>
              <a:gdLst/>
              <a:ahLst/>
              <a:cxnLst/>
              <a:rect r="r" b="b" t="t" l="l"/>
              <a:pathLst>
                <a:path h="3606419" w="1263904">
                  <a:moveTo>
                    <a:pt x="0" y="428244"/>
                  </a:moveTo>
                  <a:cubicBezTo>
                    <a:pt x="0" y="191770"/>
                    <a:pt x="191770" y="0"/>
                    <a:pt x="428244" y="0"/>
                  </a:cubicBezTo>
                  <a:lnTo>
                    <a:pt x="835660" y="0"/>
                  </a:lnTo>
                  <a:cubicBezTo>
                    <a:pt x="1072134" y="0"/>
                    <a:pt x="1263904" y="191770"/>
                    <a:pt x="1263904" y="428244"/>
                  </a:cubicBezTo>
                  <a:lnTo>
                    <a:pt x="1263904" y="3178175"/>
                  </a:lnTo>
                  <a:cubicBezTo>
                    <a:pt x="1263904" y="3414649"/>
                    <a:pt x="1072134" y="3606419"/>
                    <a:pt x="835660" y="3606419"/>
                  </a:cubicBezTo>
                  <a:lnTo>
                    <a:pt x="428244" y="3606419"/>
                  </a:lnTo>
                  <a:cubicBezTo>
                    <a:pt x="191770" y="3606419"/>
                    <a:pt x="0" y="3414649"/>
                    <a:pt x="0" y="3178175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013052" y="6873030"/>
            <a:ext cx="4816821" cy="486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93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Perspectives d'amélioration 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13052" y="7426823"/>
            <a:ext cx="15180173" cy="169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750"/>
              </a:lnSpc>
              <a:buFont typeface="Arial"/>
              <a:buChar char="•"/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Sélection automatique des features (au lieu de manuelle)</a:t>
            </a:r>
          </a:p>
          <a:p>
            <a:pPr algn="l" marL="273348" indent="-136674" lvl="1">
              <a:lnSpc>
                <a:spcPts val="2750"/>
              </a:lnSpc>
              <a:buFont typeface="Arial"/>
              <a:buChar char="•"/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Tester d'autres modèles (XGBoost, SVM)</a:t>
            </a:r>
          </a:p>
          <a:p>
            <a:pPr algn="l" marL="273348" indent="-136674" lvl="1">
              <a:lnSpc>
                <a:spcPts val="2750"/>
              </a:lnSpc>
              <a:buFont typeface="Arial"/>
              <a:buChar char="•"/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Ajouter une API REST pour intégration avec d'autres systèmes</a:t>
            </a:r>
          </a:p>
          <a:p>
            <a:pPr algn="l" marL="273348" indent="-136674" lvl="1">
              <a:lnSpc>
                <a:spcPts val="2750"/>
              </a:lnSpc>
              <a:buFont typeface="Arial"/>
              <a:buChar char="•"/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Réentraînement automatique quand de nouvelles données arrivent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DAHIVLPfRQM</dc:identifier>
  <dcterms:modified xsi:type="dcterms:W3CDTF">2011-08-01T06:04:30Z</dcterms:modified>
  <cp:revision>1</cp:revision>
  <dc:title>Prediction-du-Churn.pptx</dc:title>
</cp:coreProperties>
</file>